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png"/><Relationship Id="rId86" Type="http://schemas.openxmlformats.org/officeDocument/2006/relationships/image" Target="../media/image85.png"/><Relationship Id="rId87" Type="http://schemas.openxmlformats.org/officeDocument/2006/relationships/image" Target="../media/image86.png"/><Relationship Id="rId88" Type="http://schemas.openxmlformats.org/officeDocument/2006/relationships/image" Target="../media/image87.png"/><Relationship Id="rId89" Type="http://schemas.openxmlformats.org/officeDocument/2006/relationships/image" Target="../media/image88.png"/><Relationship Id="rId90" Type="http://schemas.openxmlformats.org/officeDocument/2006/relationships/image" Target="../media/image89.png"/><Relationship Id="rId91" Type="http://schemas.openxmlformats.org/officeDocument/2006/relationships/image" Target="../media/image90.png"/><Relationship Id="rId92" Type="http://schemas.openxmlformats.org/officeDocument/2006/relationships/image" Target="../media/image91.png"/><Relationship Id="rId93" Type="http://schemas.openxmlformats.org/officeDocument/2006/relationships/image" Target="../media/image92.png"/><Relationship Id="rId94" Type="http://schemas.openxmlformats.org/officeDocument/2006/relationships/image" Target="../media/image93.png"/><Relationship Id="rId95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071"/>
          </a:xfrm>
          <a:prstGeom prst="rect">
            <a:avLst/>
          </a:prstGeom>
          <a:solidFill>
            <a:srgbClr val="064A8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148847" y="721511"/>
            <a:ext cx="2878757" cy="1727254"/>
          </a:xfrm>
          <a:prstGeom prst="roundRect">
            <a:avLst>
              <a:gd name="adj" fmla="val 3797"/>
            </a:avLst>
          </a:prstGeom>
          <a:solidFill>
            <a:srgbClr val="E6F6FF"/>
          </a:solidFill>
          <a:ln w="11430">
            <a:solidFill>
              <a:srgbClr val="00589F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48847" y="721511"/>
            <a:ext cx="2878757" cy="298808"/>
          </a:xfrm>
          <a:prstGeom prst="roundRect">
            <a:avLst>
              <a:gd name="adj" fmla="val 19512"/>
            </a:avLst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63423" y="983879"/>
            <a:ext cx="2849605" cy="1450310"/>
          </a:xfrm>
          <a:prstGeom prst="roundRect">
            <a:avLst>
              <a:gd name="adj" fmla="val 4020"/>
            </a:avLst>
          </a:prstGeom>
          <a:solidFill>
            <a:srgbClr val="E6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444564" y="757951"/>
            <a:ext cx="502871" cy="204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07150" y="1202519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044" y="1202519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1580937" y="1202519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2267830" y="1202519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207150" y="1792846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94044" y="1792846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1580937" y="1792846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2267830" y="1792846"/>
            <a:ext cx="66502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166075" y="721511"/>
            <a:ext cx="2856893" cy="1727254"/>
          </a:xfrm>
          <a:prstGeom prst="roundRect">
            <a:avLst>
              <a:gd name="adj" fmla="val 3797"/>
            </a:avLst>
          </a:prstGeom>
          <a:solidFill>
            <a:srgbClr val="E7FAFC"/>
          </a:solidFill>
          <a:ln w="11430">
            <a:solidFill>
              <a:srgbClr val="009EB3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3166075" y="721511"/>
            <a:ext cx="2856893" cy="298808"/>
          </a:xfrm>
          <a:prstGeom prst="roundRect">
            <a:avLst>
              <a:gd name="adj" fmla="val 19512"/>
            </a:avLst>
          </a:prstGeom>
          <a:solidFill>
            <a:srgbClr val="009E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3180651" y="983879"/>
            <a:ext cx="2827741" cy="1450310"/>
          </a:xfrm>
          <a:prstGeom prst="roundRect">
            <a:avLst>
              <a:gd name="adj" fmla="val 4020"/>
            </a:avLst>
          </a:prstGeom>
          <a:solidFill>
            <a:srgbClr val="E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5439928" y="757951"/>
            <a:ext cx="502871" cy="204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3224379" y="1202519"/>
            <a:ext cx="886706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4132949" y="1202519"/>
            <a:ext cx="886706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5041518" y="1202519"/>
            <a:ext cx="886706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3224379" y="1792846"/>
            <a:ext cx="886706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4132949" y="1792846"/>
            <a:ext cx="886706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5041518" y="1792846"/>
            <a:ext cx="886706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6168728" y="721511"/>
            <a:ext cx="2842317" cy="1727254"/>
          </a:xfrm>
          <a:prstGeom prst="roundRect">
            <a:avLst>
              <a:gd name="adj" fmla="val 3797"/>
            </a:avLst>
          </a:prstGeom>
          <a:solidFill>
            <a:srgbClr val="E5FBEF"/>
          </a:solidFill>
          <a:ln w="11430">
            <a:solidFill>
              <a:srgbClr val="008B3C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6168728" y="721511"/>
            <a:ext cx="2842317" cy="298808"/>
          </a:xfrm>
          <a:prstGeom prst="roundRect">
            <a:avLst>
              <a:gd name="adj" fmla="val 19512"/>
            </a:avLst>
          </a:prstGeom>
          <a:solidFill>
            <a:srgbClr val="008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6183303" y="983879"/>
            <a:ext cx="2813165" cy="1450310"/>
          </a:xfrm>
          <a:prstGeom prst="roundRect">
            <a:avLst>
              <a:gd name="adj" fmla="val 4020"/>
            </a:avLst>
          </a:prstGeom>
          <a:solidFill>
            <a:srgbClr val="E5F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8428005" y="757951"/>
            <a:ext cx="502871" cy="204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6227031" y="1202519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6904815" y="1202519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7582598" y="1202519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8260381" y="1202519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6227031" y="1792846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6904815" y="1792846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7582598" y="1792846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8260381" y="1792846"/>
            <a:ext cx="655919" cy="575751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9149516" y="721511"/>
            <a:ext cx="2893333" cy="1727254"/>
          </a:xfrm>
          <a:prstGeom prst="roundRect">
            <a:avLst>
              <a:gd name="adj" fmla="val 3797"/>
            </a:avLst>
          </a:prstGeom>
          <a:solidFill>
            <a:srgbClr val="FFF9E2"/>
          </a:solidFill>
          <a:ln w="11430">
            <a:solidFill>
              <a:srgbClr val="BD9209"/>
            </a:solidFill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9149516" y="721511"/>
            <a:ext cx="2893333" cy="298808"/>
          </a:xfrm>
          <a:prstGeom prst="roundRect">
            <a:avLst>
              <a:gd name="adj" fmla="val 19512"/>
            </a:avLst>
          </a:prstGeom>
          <a:solidFill>
            <a:srgbClr val="BD9209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9164092" y="983879"/>
            <a:ext cx="2864181" cy="1450310"/>
          </a:xfrm>
          <a:prstGeom prst="roundRect">
            <a:avLst>
              <a:gd name="adj" fmla="val 4020"/>
            </a:avLst>
          </a:prstGeom>
          <a:solidFill>
            <a:srgbClr val="FFF9E2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11459809" y="757951"/>
            <a:ext cx="502871" cy="204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9207820" y="1202519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9760250" y="1202519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10312679" y="1202519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10865109" y="1202519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11417539" y="1202519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9207820" y="1792846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9760250" y="1792846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10312679" y="1792846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10865109" y="1792846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11417539" y="1792846"/>
            <a:ext cx="530566" cy="575751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2349820" y="2543509"/>
            <a:ext cx="7499343" cy="327960"/>
          </a:xfrm>
          <a:prstGeom prst="roundRect">
            <a:avLst>
              <a:gd name="adj" fmla="val 15556"/>
            </a:avLst>
          </a:prstGeom>
          <a:solidFill>
            <a:srgbClr val="E9FCF4"/>
          </a:solidFill>
          <a:ln w="11430">
            <a:solidFill>
              <a:srgbClr val="008B3C"/>
            </a:solidFill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3873010" y="2587237"/>
            <a:ext cx="364400" cy="240504"/>
          </a:xfrm>
          <a:prstGeom prst="roundRect">
            <a:avLst>
              <a:gd name="adj" fmla="val 18182"/>
            </a:avLst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4630961" y="2587237"/>
            <a:ext cx="364400" cy="240504"/>
          </a:xfrm>
          <a:prstGeom prst="roundRect">
            <a:avLst>
              <a:gd name="adj" fmla="val 18182"/>
            </a:avLst>
          </a:prstGeom>
          <a:solidFill>
            <a:srgbClr val="009E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oundrect 54"/>
          <p:cNvSpPr/>
          <p:nvPr/>
        </p:nvSpPr>
        <p:spPr>
          <a:xfrm>
            <a:off x="5367048" y="2587237"/>
            <a:ext cx="364400" cy="240504"/>
          </a:xfrm>
          <a:prstGeom prst="roundRect">
            <a:avLst>
              <a:gd name="adj" fmla="val 18182"/>
            </a:avLst>
          </a:prstGeom>
          <a:solidFill>
            <a:srgbClr val="008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6117712" y="2587237"/>
            <a:ext cx="422704" cy="240504"/>
          </a:xfrm>
          <a:prstGeom prst="roundRect">
            <a:avLst>
              <a:gd name="adj" fmla="val 18182"/>
            </a:avLst>
          </a:prstGeom>
          <a:solidFill>
            <a:srgbClr val="BD9209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134271" y="2951637"/>
            <a:ext cx="1865726" cy="641343"/>
          </a:xfrm>
          <a:prstGeom prst="roundRect">
            <a:avLst>
              <a:gd name="adj" fmla="val 6818"/>
            </a:avLst>
          </a:prstGeom>
          <a:solidFill>
            <a:srgbClr val="E4F6FF"/>
          </a:solidFill>
          <a:ln w="11430">
            <a:solidFill>
              <a:srgbClr val="149CF3"/>
            </a:solidFill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2211348" y="2951637"/>
            <a:ext cx="1115063" cy="641343"/>
          </a:xfrm>
          <a:prstGeom prst="roundRect">
            <a:avLst>
              <a:gd name="adj" fmla="val 6818"/>
            </a:avLst>
          </a:prstGeom>
          <a:solidFill>
            <a:srgbClr val="EDF9FF"/>
          </a:solidFill>
          <a:ln w="11430">
            <a:solidFill>
              <a:srgbClr val="149CF3"/>
            </a:solidFill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3545051" y="2951637"/>
            <a:ext cx="2594525" cy="641343"/>
          </a:xfrm>
          <a:prstGeom prst="roundRect">
            <a:avLst>
              <a:gd name="adj" fmla="val 6818"/>
            </a:avLst>
          </a:prstGeom>
          <a:solidFill>
            <a:srgbClr val="F6F1FF"/>
          </a:solidFill>
          <a:ln w="11430">
            <a:solidFill>
              <a:srgbClr val="7540DF"/>
            </a:solidFill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6358215" y="2951637"/>
            <a:ext cx="925575" cy="641343"/>
          </a:xfrm>
          <a:prstGeom prst="roundRect">
            <a:avLst>
              <a:gd name="adj" fmla="val 6818"/>
            </a:avLst>
          </a:prstGeom>
          <a:solidFill>
            <a:srgbClr val="E8FAFC"/>
          </a:solidFill>
          <a:ln w="11430">
            <a:solidFill>
              <a:srgbClr val="19B0BC"/>
            </a:solidFill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7495142" y="2951637"/>
            <a:ext cx="910999" cy="641343"/>
          </a:xfrm>
          <a:prstGeom prst="roundRect">
            <a:avLst>
              <a:gd name="adj" fmla="val 6818"/>
            </a:avLst>
          </a:prstGeom>
          <a:solidFill>
            <a:srgbClr val="EAF6FF"/>
          </a:solidFill>
          <a:ln w="11430">
            <a:solidFill>
              <a:srgbClr val="088CF1"/>
            </a:solidFill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8617493" y="2951637"/>
            <a:ext cx="932863" cy="641343"/>
          </a:xfrm>
          <a:prstGeom prst="roundRect">
            <a:avLst>
              <a:gd name="adj" fmla="val 6818"/>
            </a:avLst>
          </a:prstGeom>
          <a:solidFill>
            <a:srgbClr val="EAFBED"/>
          </a:solidFill>
          <a:ln w="11430">
            <a:solidFill>
              <a:srgbClr val="00A969"/>
            </a:solidFill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9739843" y="2951637"/>
            <a:ext cx="940151" cy="641343"/>
          </a:xfrm>
          <a:prstGeom prst="roundRect">
            <a:avLst>
              <a:gd name="adj" fmla="val 6818"/>
            </a:avLst>
          </a:prstGeom>
          <a:solidFill>
            <a:srgbClr val="E5FBFF"/>
          </a:solidFill>
          <a:ln w="11430">
            <a:solidFill>
              <a:srgbClr val="00A5BC"/>
            </a:solidFill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10913210" y="2951637"/>
            <a:ext cx="1144215" cy="641343"/>
          </a:xfrm>
          <a:prstGeom prst="roundRect">
            <a:avLst>
              <a:gd name="adj" fmla="val 6818"/>
            </a:avLst>
          </a:prstGeom>
          <a:solidFill>
            <a:srgbClr val="FFF9E7"/>
          </a:solidFill>
          <a:ln w="11430">
            <a:solidFill>
              <a:srgbClr val="BD9209"/>
            </a:solidFill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134271" y="3673148"/>
            <a:ext cx="11915866" cy="422704"/>
          </a:xfrm>
          <a:prstGeom prst="roundRect">
            <a:avLst>
              <a:gd name="adj" fmla="val 12069"/>
            </a:avLst>
          </a:prstGeom>
          <a:solidFill>
            <a:srgbClr val="D8F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134271" y="3673148"/>
            <a:ext cx="1975046" cy="40812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920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oundrect 66"/>
          <p:cNvSpPr/>
          <p:nvPr/>
        </p:nvSpPr>
        <p:spPr>
          <a:xfrm>
            <a:off x="2349820" y="3746028"/>
            <a:ext cx="2405037" cy="276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1430">
            <a:solidFill>
              <a:srgbClr val="2599E4"/>
            </a:solidFill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2626764" y="3753316"/>
            <a:ext cx="255080" cy="255080"/>
          </a:xfrm>
          <a:prstGeom prst="ellipse">
            <a:avLst/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oundrect 68"/>
          <p:cNvSpPr/>
          <p:nvPr/>
        </p:nvSpPr>
        <p:spPr>
          <a:xfrm>
            <a:off x="4973497" y="3746028"/>
            <a:ext cx="3272308" cy="276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1430">
            <a:solidFill>
              <a:srgbClr val="2599E4"/>
            </a:solidFill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5250441" y="3753316"/>
            <a:ext cx="255080" cy="255080"/>
          </a:xfrm>
          <a:prstGeom prst="ellipse">
            <a:avLst/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8457157" y="3746028"/>
            <a:ext cx="3498236" cy="276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1430">
            <a:solidFill>
              <a:srgbClr val="2599E4"/>
            </a:solidFill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8734101" y="3753316"/>
            <a:ext cx="255080" cy="255080"/>
          </a:xfrm>
          <a:prstGeom prst="ellipse">
            <a:avLst/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oundrect 72"/>
          <p:cNvSpPr/>
          <p:nvPr/>
        </p:nvSpPr>
        <p:spPr>
          <a:xfrm>
            <a:off x="148847" y="4132291"/>
            <a:ext cx="11908578" cy="2383173"/>
          </a:xfrm>
          <a:prstGeom prst="roundRect">
            <a:avLst>
              <a:gd name="adj" fmla="val 2446"/>
            </a:avLst>
          </a:prstGeom>
          <a:solidFill>
            <a:srgbClr val="E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oundrect 73"/>
          <p:cNvSpPr/>
          <p:nvPr/>
        </p:nvSpPr>
        <p:spPr>
          <a:xfrm>
            <a:off x="148847" y="4132291"/>
            <a:ext cx="11908578" cy="276944"/>
          </a:xfrm>
          <a:prstGeom prst="roundRect">
            <a:avLst>
              <a:gd name="adj" fmla="val 18421"/>
            </a:avLst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oundrect 74"/>
          <p:cNvSpPr/>
          <p:nvPr/>
        </p:nvSpPr>
        <p:spPr>
          <a:xfrm>
            <a:off x="207150" y="4445675"/>
            <a:ext cx="3884499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75" name="Roundrect 75"/>
          <p:cNvSpPr/>
          <p:nvPr/>
        </p:nvSpPr>
        <p:spPr>
          <a:xfrm>
            <a:off x="214438" y="4452963"/>
            <a:ext cx="3869923" cy="182200"/>
          </a:xfrm>
          <a:prstGeom prst="roundRect">
            <a:avLst>
              <a:gd name="adj" fmla="val 20000"/>
            </a:avLst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oundrect 76"/>
          <p:cNvSpPr/>
          <p:nvPr/>
        </p:nvSpPr>
        <p:spPr>
          <a:xfrm>
            <a:off x="4193682" y="4445675"/>
            <a:ext cx="3782468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77" name="Roundrect 77"/>
          <p:cNvSpPr/>
          <p:nvPr/>
        </p:nvSpPr>
        <p:spPr>
          <a:xfrm>
            <a:off x="4200970" y="4452963"/>
            <a:ext cx="3767892" cy="182200"/>
          </a:xfrm>
          <a:prstGeom prst="roundRect">
            <a:avLst>
              <a:gd name="adj" fmla="val 20000"/>
            </a:avLst>
          </a:prstGeom>
          <a:solidFill>
            <a:srgbClr val="009E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oundrect 78"/>
          <p:cNvSpPr/>
          <p:nvPr/>
        </p:nvSpPr>
        <p:spPr>
          <a:xfrm>
            <a:off x="8085469" y="4445675"/>
            <a:ext cx="3899075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79" name="Roundrect 79"/>
          <p:cNvSpPr/>
          <p:nvPr/>
        </p:nvSpPr>
        <p:spPr>
          <a:xfrm>
            <a:off x="8092757" y="4452963"/>
            <a:ext cx="3884499" cy="182200"/>
          </a:xfrm>
          <a:prstGeom prst="roundRect">
            <a:avLst>
              <a:gd name="adj" fmla="val 20000"/>
            </a:avLst>
          </a:prstGeom>
          <a:solidFill>
            <a:srgbClr val="008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oundrect 80"/>
          <p:cNvSpPr/>
          <p:nvPr/>
        </p:nvSpPr>
        <p:spPr>
          <a:xfrm>
            <a:off x="207150" y="5152610"/>
            <a:ext cx="3884499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81" name="Roundrect 81"/>
          <p:cNvSpPr/>
          <p:nvPr/>
        </p:nvSpPr>
        <p:spPr>
          <a:xfrm>
            <a:off x="214438" y="5159898"/>
            <a:ext cx="3869923" cy="182200"/>
          </a:xfrm>
          <a:prstGeom prst="roundRect">
            <a:avLst>
              <a:gd name="adj" fmla="val 20000"/>
            </a:avLst>
          </a:prstGeom>
          <a:solidFill>
            <a:srgbClr val="BD9209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4193682" y="5152610"/>
            <a:ext cx="3782468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83" name="Roundrect 83"/>
          <p:cNvSpPr/>
          <p:nvPr/>
        </p:nvSpPr>
        <p:spPr>
          <a:xfrm>
            <a:off x="4200970" y="5159898"/>
            <a:ext cx="3767892" cy="182200"/>
          </a:xfrm>
          <a:prstGeom prst="roundRect">
            <a:avLst>
              <a:gd name="adj" fmla="val 20000"/>
            </a:avLst>
          </a:pr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oundrect 84"/>
          <p:cNvSpPr/>
          <p:nvPr/>
        </p:nvSpPr>
        <p:spPr>
          <a:xfrm>
            <a:off x="8085469" y="5152610"/>
            <a:ext cx="3899075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8092757" y="5159898"/>
            <a:ext cx="3884499" cy="182200"/>
          </a:xfrm>
          <a:prstGeom prst="roundRect">
            <a:avLst>
              <a:gd name="adj" fmla="val 20000"/>
            </a:avLst>
          </a:prstGeom>
          <a:solidFill>
            <a:srgbClr val="009E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oundrect 86"/>
          <p:cNvSpPr/>
          <p:nvPr/>
        </p:nvSpPr>
        <p:spPr>
          <a:xfrm>
            <a:off x="207150" y="5859545"/>
            <a:ext cx="3884499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87" name="Roundrect 87"/>
          <p:cNvSpPr/>
          <p:nvPr/>
        </p:nvSpPr>
        <p:spPr>
          <a:xfrm>
            <a:off x="214438" y="5866833"/>
            <a:ext cx="3869923" cy="182200"/>
          </a:xfrm>
          <a:prstGeom prst="roundRect">
            <a:avLst>
              <a:gd name="adj" fmla="val 20000"/>
            </a:avLst>
          </a:prstGeom>
          <a:solidFill>
            <a:srgbClr val="008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oundrect 88"/>
          <p:cNvSpPr/>
          <p:nvPr/>
        </p:nvSpPr>
        <p:spPr>
          <a:xfrm>
            <a:off x="4193682" y="5859545"/>
            <a:ext cx="3782468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89" name="Roundrect 89"/>
          <p:cNvSpPr/>
          <p:nvPr/>
        </p:nvSpPr>
        <p:spPr>
          <a:xfrm>
            <a:off x="4200970" y="5866833"/>
            <a:ext cx="3767892" cy="182200"/>
          </a:xfrm>
          <a:prstGeom prst="roundRect">
            <a:avLst>
              <a:gd name="adj" fmla="val 20000"/>
            </a:avLst>
          </a:prstGeom>
          <a:solidFill>
            <a:srgbClr val="BD9209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oundrect 90"/>
          <p:cNvSpPr/>
          <p:nvPr/>
        </p:nvSpPr>
        <p:spPr>
          <a:xfrm>
            <a:off x="8085469" y="5859545"/>
            <a:ext cx="3899075" cy="65591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8EDFF4"/>
            </a:solidFill>
          </a:ln>
        </p:spPr>
        <p:txBody>
          <a:bodyPr/>
          <a:lstStyle/>
          <a:p/>
        </p:txBody>
      </p:sp>
      <p:sp>
        <p:nvSpPr>
          <p:cNvPr id="91" name="Roundrect 91"/>
          <p:cNvSpPr/>
          <p:nvPr/>
        </p:nvSpPr>
        <p:spPr>
          <a:xfrm>
            <a:off x="8092757" y="5866833"/>
            <a:ext cx="3884499" cy="182200"/>
          </a:xfrm>
          <a:prstGeom prst="roundRect">
            <a:avLst>
              <a:gd name="adj" fmla="val 20000"/>
            </a:avLst>
          </a:prstGeom>
          <a:solidFill>
            <a:srgbClr val="6129B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177999" y="6544616"/>
            <a:ext cx="11864850" cy="26965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59" y="0"/>
                </a:moveTo>
                <a:lnTo>
                  <a:pt x="21441" y="0"/>
                </a:lnTo>
                <a:lnTo>
                  <a:pt x="21600" y="10800"/>
                </a:lnTo>
                <a:lnTo>
                  <a:pt x="21441" y="21600"/>
                </a:lnTo>
                <a:lnTo>
                  <a:pt x="159" y="21600"/>
                </a:lnTo>
                <a:lnTo>
                  <a:pt x="0" y="10800"/>
                </a:lnTo>
                <a:close/>
              </a:path>
            </a:pathLst>
          </a:custGeom>
          <a:solidFill>
            <a:srgbClr val="00589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Path 93"/>
          <p:cNvSpPr/>
          <p:nvPr/>
        </p:nvSpPr>
        <p:spPr>
          <a:xfrm>
            <a:off x="1526277" y="2448765"/>
            <a:ext cx="736087" cy="19677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50800">
            <a:solidFill>
              <a:srgbClr val="009EB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4" name="Path 94"/>
          <p:cNvSpPr/>
          <p:nvPr/>
        </p:nvSpPr>
        <p:spPr>
          <a:xfrm>
            <a:off x="9922043" y="2448765"/>
            <a:ext cx="728799" cy="19677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50800">
            <a:solidFill>
              <a:srgbClr val="BD9209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4630961" y="2456053"/>
            <a:ext cx="0" cy="72880"/>
          </a:xfrm>
          <a:prstGeom prst="line">
            <a:avLst/>
          </a:prstGeom>
          <a:noFill/>
          <a:ln w="25400">
            <a:solidFill>
              <a:srgbClr val="009EB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7568022" y="2456053"/>
            <a:ext cx="0" cy="72880"/>
          </a:xfrm>
          <a:prstGeom prst="line">
            <a:avLst/>
          </a:prstGeom>
          <a:noFill/>
          <a:ln w="25400">
            <a:solidFill>
              <a:srgbClr val="008B3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1999996" y="3148412"/>
            <a:ext cx="20406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1499D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3333699" y="3148412"/>
            <a:ext cx="20406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1499D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6146864" y="3148412"/>
            <a:ext cx="20406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1499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7298366" y="3148412"/>
            <a:ext cx="20406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1499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8420717" y="3148412"/>
            <a:ext cx="20406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1499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9550356" y="3148412"/>
            <a:ext cx="20406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0CAA8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0687282" y="3148412"/>
            <a:ext cx="204064" cy="255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1499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906798" y="4759058"/>
            <a:ext cx="269656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919828" y="4759058"/>
            <a:ext cx="291520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5104681" y="4759058"/>
            <a:ext cx="211352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5993816" y="4759058"/>
            <a:ext cx="291520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8697661" y="4759058"/>
            <a:ext cx="269656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0002211" y="4759058"/>
            <a:ext cx="269656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1322213" y="5465994"/>
            <a:ext cx="174912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2408124" y="5465994"/>
            <a:ext cx="211352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4805873" y="5465994"/>
            <a:ext cx="262368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5760600" y="5465994"/>
            <a:ext cx="225928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6657023" y="5465994"/>
            <a:ext cx="262368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8996468" y="5465994"/>
            <a:ext cx="189488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10060515" y="5465994"/>
            <a:ext cx="211352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0942362" y="5465994"/>
            <a:ext cx="233216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899510" y="6165641"/>
            <a:ext cx="262368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723053" y="6165641"/>
            <a:ext cx="284232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2714220" y="6165641"/>
            <a:ext cx="269656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5250441" y="6165641"/>
            <a:ext cx="182200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6671599" y="6165641"/>
            <a:ext cx="167624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7407686" y="6165641"/>
            <a:ext cx="174912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8792404" y="6165641"/>
            <a:ext cx="255080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10140683" y="6165641"/>
            <a:ext cx="218640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11007954" y="6165641"/>
            <a:ext cx="247792" cy="10203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832"/>
                </a:moveTo>
                <a:lnTo>
                  <a:pt x="12960" y="5832"/>
                </a:lnTo>
                <a:lnTo>
                  <a:pt x="12960" y="0"/>
                </a:lnTo>
                <a:lnTo>
                  <a:pt x="21600" y="10800"/>
                </a:lnTo>
                <a:lnTo>
                  <a:pt x="12960" y="21600"/>
                </a:lnTo>
                <a:lnTo>
                  <a:pt x="12960" y="15768"/>
                </a:lnTo>
                <a:lnTo>
                  <a:pt x="0" y="15768"/>
                </a:lnTo>
                <a:close/>
              </a:path>
            </a:pathLst>
          </a:custGeom>
          <a:solidFill>
            <a:srgbClr val="2399DE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27" name="header-left"/>
          <p:cNvPicPr/>
          <p:nvPr/>
        </p:nvPicPr>
        <p:blipFill>
          <a:blip r:embed="rId2"/>
          <a:stretch>
            <a:fillRect/>
          </a:stretch>
        </p:blipFill>
        <p:spPr>
          <a:xfrm>
            <a:off x="213755" y="65592"/>
            <a:ext cx="1531845" cy="429991"/>
          </a:xfrm>
          <a:prstGeom prst="rect">
            <a:avLst/>
          </a:prstGeom>
        </p:spPr>
      </p:pic>
      <p:pic>
        <p:nvPicPr>
          <p:cNvPr id="128" name="header-right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9646" y="72880"/>
            <a:ext cx="1157287" cy="444567"/>
          </a:xfrm>
          <a:prstGeom prst="rect">
            <a:avLst/>
          </a:prstGeom>
        </p:spPr>
      </p:pic>
      <p:pic>
        <p:nvPicPr>
          <p:cNvPr id="129" name="waves"/>
          <p:cNvPicPr/>
          <p:nvPr/>
        </p:nvPicPr>
        <p:blipFill>
          <a:blip r:embed="rId4"/>
          <a:stretch>
            <a:fillRect/>
          </a:stretch>
        </p:blipFill>
        <p:spPr>
          <a:xfrm>
            <a:off x="933604" y="510159"/>
            <a:ext cx="733490" cy="160336"/>
          </a:xfrm>
          <a:prstGeom prst="rect">
            <a:avLst/>
          </a:prstGeom>
        </p:spPr>
      </p:pic>
      <p:pic>
        <p:nvPicPr>
          <p:cNvPr id="130" name="waves"/>
          <p:cNvPicPr/>
          <p:nvPr/>
        </p:nvPicPr>
        <p:blipFill>
          <a:blip r:embed="rId5"/>
          <a:stretch>
            <a:fillRect/>
          </a:stretch>
        </p:blipFill>
        <p:spPr>
          <a:xfrm>
            <a:off x="10662067" y="524735"/>
            <a:ext cx="633469" cy="138472"/>
          </a:xfrm>
          <a:prstGeom prst="rect">
            <a:avLst/>
          </a:prstGeom>
        </p:spPr>
      </p:pic>
      <p:pic>
        <p:nvPicPr>
          <p:cNvPr id="131" name="liquid"/>
          <p:cNvPicPr/>
          <p:nvPr/>
        </p:nvPicPr>
        <p:blipFill>
          <a:blip r:embed="rId6"/>
          <a:stretch>
            <a:fillRect/>
          </a:stretch>
        </p:blipFill>
        <p:spPr>
          <a:xfrm>
            <a:off x="427103" y="1238959"/>
            <a:ext cx="225125" cy="327960"/>
          </a:xfrm>
          <a:prstGeom prst="rect">
            <a:avLst/>
          </a:prstGeom>
        </p:spPr>
      </p:pic>
      <p:pic>
        <p:nvPicPr>
          <p:cNvPr id="132" name="gas"/>
          <p:cNvPicPr/>
          <p:nvPr/>
        </p:nvPicPr>
        <p:blipFill>
          <a:blip r:embed="rId7"/>
          <a:stretch>
            <a:fillRect/>
          </a:stretch>
        </p:blipFill>
        <p:spPr>
          <a:xfrm>
            <a:off x="1099977" y="1238959"/>
            <a:ext cx="253162" cy="327960"/>
          </a:xfrm>
          <a:prstGeom prst="rect">
            <a:avLst/>
          </a:prstGeom>
        </p:spPr>
      </p:pic>
      <p:pic>
        <p:nvPicPr>
          <p:cNvPr id="133" name="methanol"/>
          <p:cNvPicPr/>
          <p:nvPr/>
        </p:nvPicPr>
        <p:blipFill>
          <a:blip r:embed="rId8"/>
          <a:stretch>
            <a:fillRect/>
          </a:stretch>
        </p:blipFill>
        <p:spPr>
          <a:xfrm>
            <a:off x="1789397" y="1238959"/>
            <a:ext cx="248109" cy="327960"/>
          </a:xfrm>
          <a:prstGeom prst="rect">
            <a:avLst/>
          </a:prstGeom>
        </p:spPr>
      </p:pic>
      <p:pic>
        <p:nvPicPr>
          <p:cNvPr id="134" name="ammonia"/>
          <p:cNvPicPr/>
          <p:nvPr/>
        </p:nvPicPr>
        <p:blipFill>
          <a:blip r:embed="rId9"/>
          <a:stretch>
            <a:fillRect/>
          </a:stretch>
        </p:blipFill>
        <p:spPr>
          <a:xfrm>
            <a:off x="2450158" y="1238959"/>
            <a:ext cx="300374" cy="327960"/>
          </a:xfrm>
          <a:prstGeom prst="rect">
            <a:avLst/>
          </a:prstGeom>
        </p:spPr>
      </p:pic>
      <p:pic>
        <p:nvPicPr>
          <p:cNvPr id="135" name="hydrogen"/>
          <p:cNvPicPr/>
          <p:nvPr/>
        </p:nvPicPr>
        <p:blipFill>
          <a:blip r:embed="rId10"/>
          <a:stretch>
            <a:fillRect/>
          </a:stretch>
        </p:blipFill>
        <p:spPr>
          <a:xfrm>
            <a:off x="372997" y="1829286"/>
            <a:ext cx="333336" cy="327960"/>
          </a:xfrm>
          <a:prstGeom prst="rect">
            <a:avLst/>
          </a:prstGeom>
        </p:spPr>
      </p:pic>
      <p:pic>
        <p:nvPicPr>
          <p:cNvPr id="136" name="electric"/>
          <p:cNvPicPr/>
          <p:nvPr/>
        </p:nvPicPr>
        <p:blipFill>
          <a:blip r:embed="rId11"/>
          <a:stretch>
            <a:fillRect/>
          </a:stretch>
        </p:blipFill>
        <p:spPr>
          <a:xfrm>
            <a:off x="959636" y="1829605"/>
            <a:ext cx="533845" cy="327321"/>
          </a:xfrm>
          <a:prstGeom prst="rect">
            <a:avLst/>
          </a:prstGeom>
        </p:spPr>
      </p:pic>
      <p:pic>
        <p:nvPicPr>
          <p:cNvPr id="137" name="nuclear"/>
          <p:cNvPicPr/>
          <p:nvPr/>
        </p:nvPicPr>
        <p:blipFill>
          <a:blip r:embed="rId12"/>
          <a:stretch>
            <a:fillRect/>
          </a:stretch>
        </p:blipFill>
        <p:spPr>
          <a:xfrm>
            <a:off x="1750827" y="1829286"/>
            <a:ext cx="325249" cy="327960"/>
          </a:xfrm>
          <a:prstGeom prst="rect">
            <a:avLst/>
          </a:prstGeom>
        </p:spPr>
      </p:pic>
      <p:pic>
        <p:nvPicPr>
          <p:cNvPr id="138" name="multi"/>
          <p:cNvPicPr/>
          <p:nvPr/>
        </p:nvPicPr>
        <p:blipFill>
          <a:blip r:embed="rId13"/>
          <a:stretch>
            <a:fillRect/>
          </a:stretch>
        </p:blipFill>
        <p:spPr>
          <a:xfrm>
            <a:off x="2410920" y="1829286"/>
            <a:ext cx="378850" cy="327960"/>
          </a:xfrm>
          <a:prstGeom prst="rect">
            <a:avLst/>
          </a:prstGeom>
        </p:spPr>
      </p:pic>
      <p:pic>
        <p:nvPicPr>
          <p:cNvPr id="139" name="engine"/>
          <p:cNvPicPr/>
          <p:nvPr/>
        </p:nvPicPr>
        <p:blipFill>
          <a:blip r:embed="rId14"/>
          <a:stretch>
            <a:fillRect/>
          </a:stretch>
        </p:blipFill>
        <p:spPr>
          <a:xfrm>
            <a:off x="3415455" y="1238959"/>
            <a:ext cx="504553" cy="327960"/>
          </a:xfrm>
          <a:prstGeom prst="rect">
            <a:avLst/>
          </a:prstGeom>
        </p:spPr>
      </p:pic>
      <p:pic>
        <p:nvPicPr>
          <p:cNvPr id="140" name="lowfc"/>
          <p:cNvPicPr/>
          <p:nvPr/>
        </p:nvPicPr>
        <p:blipFill>
          <a:blip r:embed="rId15"/>
          <a:stretch>
            <a:fillRect/>
          </a:stretch>
        </p:blipFill>
        <p:spPr>
          <a:xfrm>
            <a:off x="4370109" y="1238959"/>
            <a:ext cx="412385" cy="327960"/>
          </a:xfrm>
          <a:prstGeom prst="rect">
            <a:avLst/>
          </a:prstGeom>
        </p:spPr>
      </p:pic>
      <p:pic>
        <p:nvPicPr>
          <p:cNvPr id="141" name="highfc"/>
          <p:cNvPicPr/>
          <p:nvPr/>
        </p:nvPicPr>
        <p:blipFill>
          <a:blip r:embed="rId16"/>
          <a:stretch>
            <a:fillRect/>
          </a:stretch>
        </p:blipFill>
        <p:spPr>
          <a:xfrm>
            <a:off x="5284786" y="1238959"/>
            <a:ext cx="400171" cy="327960"/>
          </a:xfrm>
          <a:prstGeom prst="rect">
            <a:avLst/>
          </a:prstGeom>
        </p:spPr>
      </p:pic>
      <p:pic>
        <p:nvPicPr>
          <p:cNvPr id="142" name="reformer"/>
          <p:cNvPicPr/>
          <p:nvPr/>
        </p:nvPicPr>
        <p:blipFill>
          <a:blip r:embed="rId17"/>
          <a:stretch>
            <a:fillRect/>
          </a:stretch>
        </p:blipFill>
        <p:spPr>
          <a:xfrm>
            <a:off x="3322611" y="1829286"/>
            <a:ext cx="690241" cy="327960"/>
          </a:xfrm>
          <a:prstGeom prst="rect">
            <a:avLst/>
          </a:prstGeom>
        </p:spPr>
      </p:pic>
      <p:pic>
        <p:nvPicPr>
          <p:cNvPr id="143" name="battery"/>
          <p:cNvPicPr/>
          <p:nvPr/>
        </p:nvPicPr>
        <p:blipFill>
          <a:blip r:embed="rId18"/>
          <a:stretch>
            <a:fillRect/>
          </a:stretch>
        </p:blipFill>
        <p:spPr>
          <a:xfrm>
            <a:off x="4338872" y="1829286"/>
            <a:ext cx="474858" cy="327960"/>
          </a:xfrm>
          <a:prstGeom prst="rect">
            <a:avLst/>
          </a:prstGeom>
        </p:spPr>
      </p:pic>
      <p:pic>
        <p:nvPicPr>
          <p:cNvPr id="144" name="nuclearheat"/>
          <p:cNvPicPr/>
          <p:nvPr/>
        </p:nvPicPr>
        <p:blipFill>
          <a:blip r:embed="rId19"/>
          <a:stretch>
            <a:fillRect/>
          </a:stretch>
        </p:blipFill>
        <p:spPr>
          <a:xfrm>
            <a:off x="5123410" y="1829286"/>
            <a:ext cx="722922" cy="327960"/>
          </a:xfrm>
          <a:prstGeom prst="rect">
            <a:avLst/>
          </a:prstGeom>
        </p:spPr>
      </p:pic>
      <p:pic>
        <p:nvPicPr>
          <p:cNvPr id="145" name="shaft"/>
          <p:cNvPicPr/>
          <p:nvPr/>
        </p:nvPicPr>
        <p:blipFill>
          <a:blip r:embed="rId20"/>
          <a:stretch>
            <a:fillRect/>
          </a:stretch>
        </p:blipFill>
        <p:spPr>
          <a:xfrm>
            <a:off x="6292623" y="1329068"/>
            <a:ext cx="524735" cy="147741"/>
          </a:xfrm>
          <a:prstGeom prst="rect">
            <a:avLst/>
          </a:prstGeom>
        </p:spPr>
      </p:pic>
      <p:pic>
        <p:nvPicPr>
          <p:cNvPr id="146" name="shaftmotor"/>
          <p:cNvPicPr/>
          <p:nvPr/>
        </p:nvPicPr>
        <p:blipFill>
          <a:blip r:embed="rId21"/>
          <a:stretch>
            <a:fillRect/>
          </a:stretch>
        </p:blipFill>
        <p:spPr>
          <a:xfrm>
            <a:off x="6970407" y="1242411"/>
            <a:ext cx="524735" cy="321055"/>
          </a:xfrm>
          <a:prstGeom prst="rect">
            <a:avLst/>
          </a:prstGeom>
        </p:spPr>
      </p:pic>
      <p:pic>
        <p:nvPicPr>
          <p:cNvPr id="147" name="serial"/>
          <p:cNvPicPr/>
          <p:nvPr/>
        </p:nvPicPr>
        <p:blipFill>
          <a:blip r:embed="rId22"/>
          <a:stretch>
            <a:fillRect/>
          </a:stretch>
        </p:blipFill>
        <p:spPr>
          <a:xfrm>
            <a:off x="7693870" y="1238959"/>
            <a:ext cx="433375" cy="327960"/>
          </a:xfrm>
          <a:prstGeom prst="rect">
            <a:avLst/>
          </a:prstGeom>
        </p:spPr>
      </p:pic>
      <p:pic>
        <p:nvPicPr>
          <p:cNvPr id="148" name="gears"/>
          <p:cNvPicPr/>
          <p:nvPr/>
        </p:nvPicPr>
        <p:blipFill>
          <a:blip r:embed="rId23"/>
          <a:stretch>
            <a:fillRect/>
          </a:stretch>
        </p:blipFill>
        <p:spPr>
          <a:xfrm>
            <a:off x="8356405" y="1238959"/>
            <a:ext cx="463871" cy="327960"/>
          </a:xfrm>
          <a:prstGeom prst="rect">
            <a:avLst/>
          </a:prstGeom>
        </p:spPr>
      </p:pic>
      <p:pic>
        <p:nvPicPr>
          <p:cNvPr id="149" name="serialparallel"/>
          <p:cNvPicPr/>
          <p:nvPr/>
        </p:nvPicPr>
        <p:blipFill>
          <a:blip r:embed="rId24"/>
          <a:stretch>
            <a:fillRect/>
          </a:stretch>
        </p:blipFill>
        <p:spPr>
          <a:xfrm>
            <a:off x="6292623" y="1881393"/>
            <a:ext cx="524735" cy="223745"/>
          </a:xfrm>
          <a:prstGeom prst="rect">
            <a:avLst/>
          </a:prstGeom>
        </p:spPr>
      </p:pic>
      <p:pic>
        <p:nvPicPr>
          <p:cNvPr id="150" name="integrated"/>
          <p:cNvPicPr/>
          <p:nvPr/>
        </p:nvPicPr>
        <p:blipFill>
          <a:blip r:embed="rId25"/>
          <a:stretch>
            <a:fillRect/>
          </a:stretch>
        </p:blipFill>
        <p:spPr>
          <a:xfrm>
            <a:off x="6970407" y="1906236"/>
            <a:ext cx="524735" cy="174059"/>
          </a:xfrm>
          <a:prstGeom prst="rect">
            <a:avLst/>
          </a:prstGeom>
        </p:spPr>
      </p:pic>
      <p:pic>
        <p:nvPicPr>
          <p:cNvPr id="151" name="distributed"/>
          <p:cNvPicPr/>
          <p:nvPr/>
        </p:nvPicPr>
        <p:blipFill>
          <a:blip r:embed="rId26"/>
          <a:stretch>
            <a:fillRect/>
          </a:stretch>
        </p:blipFill>
        <p:spPr>
          <a:xfrm>
            <a:off x="7648190" y="1866518"/>
            <a:ext cx="524735" cy="253495"/>
          </a:xfrm>
          <a:prstGeom prst="rect">
            <a:avLst/>
          </a:prstGeom>
        </p:spPr>
      </p:pic>
      <p:pic>
        <p:nvPicPr>
          <p:cNvPr id="152" name="shoreboost"/>
          <p:cNvPicPr/>
          <p:nvPr/>
        </p:nvPicPr>
        <p:blipFill>
          <a:blip r:embed="rId27"/>
          <a:stretch>
            <a:fillRect/>
          </a:stretch>
        </p:blipFill>
        <p:spPr>
          <a:xfrm>
            <a:off x="8397313" y="1829286"/>
            <a:ext cx="382056" cy="327960"/>
          </a:xfrm>
          <a:prstGeom prst="rect">
            <a:avLst/>
          </a:prstGeom>
        </p:spPr>
      </p:pic>
      <p:pic>
        <p:nvPicPr>
          <p:cNvPr id="153" name="storage"/>
          <p:cNvPicPr/>
          <p:nvPr/>
        </p:nvPicPr>
        <p:blipFill>
          <a:blip r:embed="rId28"/>
          <a:stretch>
            <a:fillRect/>
          </a:stretch>
        </p:blipFill>
        <p:spPr>
          <a:xfrm>
            <a:off x="9273412" y="1252061"/>
            <a:ext cx="399382" cy="301755"/>
          </a:xfrm>
          <a:prstGeom prst="rect">
            <a:avLst/>
          </a:prstGeom>
        </p:spPr>
      </p:pic>
      <p:pic>
        <p:nvPicPr>
          <p:cNvPr id="154" name="shore"/>
          <p:cNvPicPr/>
          <p:nvPr/>
        </p:nvPicPr>
        <p:blipFill>
          <a:blip r:embed="rId29"/>
          <a:stretch>
            <a:fillRect/>
          </a:stretch>
        </p:blipFill>
        <p:spPr>
          <a:xfrm>
            <a:off x="9876194" y="1238959"/>
            <a:ext cx="298678" cy="327960"/>
          </a:xfrm>
          <a:prstGeom prst="rect">
            <a:avLst/>
          </a:prstGeom>
        </p:spPr>
      </p:pic>
      <p:pic>
        <p:nvPicPr>
          <p:cNvPr id="155" name="wind"/>
          <p:cNvPicPr/>
          <p:nvPr/>
        </p:nvPicPr>
        <p:blipFill>
          <a:blip r:embed="rId30"/>
          <a:stretch>
            <a:fillRect/>
          </a:stretch>
        </p:blipFill>
        <p:spPr>
          <a:xfrm>
            <a:off x="10422485" y="1238959"/>
            <a:ext cx="310954" cy="327960"/>
          </a:xfrm>
          <a:prstGeom prst="rect">
            <a:avLst/>
          </a:prstGeom>
        </p:spPr>
      </p:pic>
      <p:pic>
        <p:nvPicPr>
          <p:cNvPr id="156" name="heat"/>
          <p:cNvPicPr/>
          <p:nvPr/>
        </p:nvPicPr>
        <p:blipFill>
          <a:blip r:embed="rId31"/>
          <a:stretch>
            <a:fillRect/>
          </a:stretch>
        </p:blipFill>
        <p:spPr>
          <a:xfrm>
            <a:off x="10930701" y="1282370"/>
            <a:ext cx="399382" cy="241136"/>
          </a:xfrm>
          <a:prstGeom prst="rect">
            <a:avLst/>
          </a:prstGeom>
        </p:spPr>
      </p:pic>
      <p:pic>
        <p:nvPicPr>
          <p:cNvPr id="157" name="co2"/>
          <p:cNvPicPr/>
          <p:nvPr/>
        </p:nvPicPr>
        <p:blipFill>
          <a:blip r:embed="rId32"/>
          <a:stretch>
            <a:fillRect/>
          </a:stretch>
        </p:blipFill>
        <p:spPr>
          <a:xfrm>
            <a:off x="11483131" y="1257330"/>
            <a:ext cx="399382" cy="291216"/>
          </a:xfrm>
          <a:prstGeom prst="rect">
            <a:avLst/>
          </a:prstGeom>
        </p:spPr>
      </p:pic>
      <p:pic>
        <p:nvPicPr>
          <p:cNvPr id="158" name="emissions"/>
          <p:cNvPicPr/>
          <p:nvPr/>
        </p:nvPicPr>
        <p:blipFill>
          <a:blip r:embed="rId33"/>
          <a:stretch>
            <a:fillRect/>
          </a:stretch>
        </p:blipFill>
        <p:spPr>
          <a:xfrm>
            <a:off x="9273412" y="1870200"/>
            <a:ext cx="399382" cy="246131"/>
          </a:xfrm>
          <a:prstGeom prst="rect">
            <a:avLst/>
          </a:prstGeom>
        </p:spPr>
      </p:pic>
      <p:pic>
        <p:nvPicPr>
          <p:cNvPr id="159" name="redundancy"/>
          <p:cNvPicPr/>
          <p:nvPr/>
        </p:nvPicPr>
        <p:blipFill>
          <a:blip r:embed="rId34"/>
          <a:stretch>
            <a:fillRect/>
          </a:stretch>
        </p:blipFill>
        <p:spPr>
          <a:xfrm>
            <a:off x="9889112" y="1829286"/>
            <a:ext cx="272840" cy="327960"/>
          </a:xfrm>
          <a:prstGeom prst="rect">
            <a:avLst/>
          </a:prstGeom>
        </p:spPr>
      </p:pic>
      <p:pic>
        <p:nvPicPr>
          <p:cNvPr id="160" name="emergency"/>
          <p:cNvPicPr/>
          <p:nvPr/>
        </p:nvPicPr>
        <p:blipFill>
          <a:blip r:embed="rId35"/>
          <a:stretch>
            <a:fillRect/>
          </a:stretch>
        </p:blipFill>
        <p:spPr>
          <a:xfrm>
            <a:off x="10378271" y="1883054"/>
            <a:ext cx="399382" cy="220424"/>
          </a:xfrm>
          <a:prstGeom prst="rect">
            <a:avLst/>
          </a:prstGeom>
        </p:spPr>
      </p:pic>
      <p:pic>
        <p:nvPicPr>
          <p:cNvPr id="161" name="modular"/>
          <p:cNvPicPr/>
          <p:nvPr/>
        </p:nvPicPr>
        <p:blipFill>
          <a:blip r:embed="rId36"/>
          <a:stretch>
            <a:fillRect/>
          </a:stretch>
        </p:blipFill>
        <p:spPr>
          <a:xfrm>
            <a:off x="10930701" y="1856564"/>
            <a:ext cx="399382" cy="273402"/>
          </a:xfrm>
          <a:prstGeom prst="rect">
            <a:avLst/>
          </a:prstGeom>
        </p:spPr>
      </p:pic>
      <p:pic>
        <p:nvPicPr>
          <p:cNvPr id="162" name="monitor"/>
          <p:cNvPicPr/>
          <p:nvPr/>
        </p:nvPicPr>
        <p:blipFill>
          <a:blip r:embed="rId37"/>
          <a:stretch>
            <a:fillRect/>
          </a:stretch>
        </p:blipFill>
        <p:spPr>
          <a:xfrm>
            <a:off x="11483131" y="1837624"/>
            <a:ext cx="399382" cy="311283"/>
          </a:xfrm>
          <a:prstGeom prst="rect">
            <a:avLst/>
          </a:prstGeom>
        </p:spPr>
      </p:pic>
      <p:pic>
        <p:nvPicPr>
          <p:cNvPr id="163" name="ship-native"/>
          <p:cNvPicPr/>
          <p:nvPr/>
        </p:nvPicPr>
        <p:blipFill>
          <a:blip r:embed="rId38"/>
          <a:stretch>
            <a:fillRect/>
          </a:stretch>
        </p:blipFill>
        <p:spPr>
          <a:xfrm>
            <a:off x="287318" y="3039419"/>
            <a:ext cx="728799" cy="276291"/>
          </a:xfrm>
          <a:prstGeom prst="rect">
            <a:avLst/>
          </a:prstGeom>
        </p:spPr>
      </p:pic>
      <p:pic>
        <p:nvPicPr>
          <p:cNvPr id="164" name="document"/>
          <p:cNvPicPr/>
          <p:nvPr/>
        </p:nvPicPr>
        <p:blipFill>
          <a:blip r:embed="rId39"/>
          <a:stretch>
            <a:fillRect/>
          </a:stretch>
        </p:blipFill>
        <p:spPr>
          <a:xfrm>
            <a:off x="2313380" y="3127022"/>
            <a:ext cx="276944" cy="319724"/>
          </a:xfrm>
          <a:prstGeom prst="rect">
            <a:avLst/>
          </a:prstGeom>
        </p:spPr>
      </p:pic>
      <p:pic>
        <p:nvPicPr>
          <p:cNvPr id="165" name="combination"/>
          <p:cNvPicPr/>
          <p:nvPr/>
        </p:nvPicPr>
        <p:blipFill>
          <a:blip r:embed="rId40"/>
          <a:stretch>
            <a:fillRect/>
          </a:stretch>
        </p:blipFill>
        <p:spPr>
          <a:xfrm>
            <a:off x="3647082" y="3115958"/>
            <a:ext cx="400840" cy="298124"/>
          </a:xfrm>
          <a:prstGeom prst="rect">
            <a:avLst/>
          </a:prstGeom>
        </p:spPr>
      </p:pic>
      <p:pic>
        <p:nvPicPr>
          <p:cNvPr id="166" name="filter"/>
          <p:cNvPicPr/>
          <p:nvPr/>
        </p:nvPicPr>
        <p:blipFill>
          <a:blip r:embed="rId41"/>
          <a:stretch>
            <a:fillRect/>
          </a:stretch>
        </p:blipFill>
        <p:spPr>
          <a:xfrm>
            <a:off x="6438383" y="3169476"/>
            <a:ext cx="276944" cy="256680"/>
          </a:xfrm>
          <a:prstGeom prst="rect">
            <a:avLst/>
          </a:prstGeom>
        </p:spPr>
      </p:pic>
      <p:pic>
        <p:nvPicPr>
          <p:cNvPr id="167" name="safety"/>
          <p:cNvPicPr/>
          <p:nvPr/>
        </p:nvPicPr>
        <p:blipFill>
          <a:blip r:embed="rId42"/>
          <a:stretch>
            <a:fillRect/>
          </a:stretch>
        </p:blipFill>
        <p:spPr>
          <a:xfrm>
            <a:off x="7568705" y="3111972"/>
            <a:ext cx="290153" cy="357112"/>
          </a:xfrm>
          <a:prstGeom prst="rect">
            <a:avLst/>
          </a:prstGeom>
        </p:spPr>
      </p:pic>
      <p:pic>
        <p:nvPicPr>
          <p:cNvPr id="168" name="pathnodes"/>
          <p:cNvPicPr/>
          <p:nvPr/>
        </p:nvPicPr>
        <p:blipFill>
          <a:blip r:embed="rId43"/>
          <a:stretch>
            <a:fillRect/>
          </a:stretch>
        </p:blipFill>
        <p:spPr>
          <a:xfrm>
            <a:off x="8683085" y="3133431"/>
            <a:ext cx="320672" cy="285041"/>
          </a:xfrm>
          <a:prstGeom prst="rect">
            <a:avLst/>
          </a:prstGeom>
        </p:spPr>
      </p:pic>
      <p:pic>
        <p:nvPicPr>
          <p:cNvPr id="169" name="bars"/>
          <p:cNvPicPr/>
          <p:nvPr/>
        </p:nvPicPr>
        <p:blipFill>
          <a:blip r:embed="rId44"/>
          <a:stretch>
            <a:fillRect/>
          </a:stretch>
        </p:blipFill>
        <p:spPr>
          <a:xfrm>
            <a:off x="9805435" y="3153199"/>
            <a:ext cx="269656" cy="267370"/>
          </a:xfrm>
          <a:prstGeom prst="rect">
            <a:avLst/>
          </a:prstGeom>
        </p:spPr>
      </p:pic>
      <p:pic>
        <p:nvPicPr>
          <p:cNvPr id="170" name="goldship"/>
          <p:cNvPicPr/>
          <p:nvPr/>
        </p:nvPicPr>
        <p:blipFill>
          <a:blip r:embed="rId45"/>
          <a:stretch>
            <a:fillRect/>
          </a:stretch>
        </p:blipFill>
        <p:spPr>
          <a:xfrm>
            <a:off x="10986090" y="3123162"/>
            <a:ext cx="429991" cy="291004"/>
          </a:xfrm>
          <a:prstGeom prst="rect">
            <a:avLst/>
          </a:prstGeom>
        </p:spPr>
      </p:pic>
      <p:pic>
        <p:nvPicPr>
          <p:cNvPr id="171" name="redfuel"/>
          <p:cNvPicPr/>
          <p:nvPr/>
        </p:nvPicPr>
        <p:blipFill>
          <a:blip r:embed="rId46"/>
          <a:stretch>
            <a:fillRect/>
          </a:stretch>
        </p:blipFill>
        <p:spPr>
          <a:xfrm>
            <a:off x="493291" y="4664315"/>
            <a:ext cx="222110" cy="255080"/>
          </a:xfrm>
          <a:prstGeom prst="rect">
            <a:avLst/>
          </a:prstGeom>
        </p:spPr>
      </p:pic>
      <p:pic>
        <p:nvPicPr>
          <p:cNvPr id="172" name="engine"/>
          <p:cNvPicPr/>
          <p:nvPr/>
        </p:nvPicPr>
        <p:blipFill>
          <a:blip r:embed="rId47"/>
          <a:stretch>
            <a:fillRect/>
          </a:stretch>
        </p:blipFill>
        <p:spPr>
          <a:xfrm>
            <a:off x="1340994" y="4664315"/>
            <a:ext cx="392430" cy="255080"/>
          </a:xfrm>
          <a:prstGeom prst="rect">
            <a:avLst/>
          </a:prstGeom>
        </p:spPr>
      </p:pic>
      <p:pic>
        <p:nvPicPr>
          <p:cNvPr id="173" name="shaft"/>
          <p:cNvPicPr/>
          <p:nvPr/>
        </p:nvPicPr>
        <p:blipFill>
          <a:blip r:embed="rId48"/>
          <a:stretch>
            <a:fillRect/>
          </a:stretch>
        </p:blipFill>
        <p:spPr>
          <a:xfrm>
            <a:off x="2415412" y="4693467"/>
            <a:ext cx="750663" cy="211352"/>
          </a:xfrm>
          <a:prstGeom prst="rect">
            <a:avLst/>
          </a:prstGeom>
        </p:spPr>
      </p:pic>
      <p:pic>
        <p:nvPicPr>
          <p:cNvPr id="174" name="propeller"/>
          <p:cNvPicPr/>
          <p:nvPr/>
        </p:nvPicPr>
        <p:blipFill>
          <a:blip r:embed="rId49"/>
          <a:stretch>
            <a:fillRect/>
          </a:stretch>
        </p:blipFill>
        <p:spPr>
          <a:xfrm>
            <a:off x="3493015" y="4649739"/>
            <a:ext cx="293558" cy="291520"/>
          </a:xfrm>
          <a:prstGeom prst="rect">
            <a:avLst/>
          </a:prstGeom>
        </p:spPr>
      </p:pic>
      <p:pic>
        <p:nvPicPr>
          <p:cNvPr id="175" name="redfuel"/>
          <p:cNvPicPr/>
          <p:nvPr/>
        </p:nvPicPr>
        <p:blipFill>
          <a:blip r:embed="rId50"/>
          <a:stretch>
            <a:fillRect/>
          </a:stretch>
        </p:blipFill>
        <p:spPr>
          <a:xfrm>
            <a:off x="4436094" y="4664315"/>
            <a:ext cx="222110" cy="255080"/>
          </a:xfrm>
          <a:prstGeom prst="rect">
            <a:avLst/>
          </a:prstGeom>
        </p:spPr>
      </p:pic>
      <p:pic>
        <p:nvPicPr>
          <p:cNvPr id="176" name="bluefuel"/>
          <p:cNvPicPr/>
          <p:nvPr/>
        </p:nvPicPr>
        <p:blipFill>
          <a:blip r:embed="rId51"/>
          <a:stretch>
            <a:fillRect/>
          </a:stretch>
        </p:blipFill>
        <p:spPr>
          <a:xfrm>
            <a:off x="4878753" y="4671915"/>
            <a:ext cx="174912" cy="239879"/>
          </a:xfrm>
          <a:prstGeom prst="rect">
            <a:avLst/>
          </a:prstGeom>
        </p:spPr>
      </p:pic>
      <p:pic>
        <p:nvPicPr>
          <p:cNvPr id="177" name="engine"/>
          <p:cNvPicPr/>
          <p:nvPr/>
        </p:nvPicPr>
        <p:blipFill>
          <a:blip r:embed="rId52"/>
          <a:stretch>
            <a:fillRect/>
          </a:stretch>
        </p:blipFill>
        <p:spPr>
          <a:xfrm>
            <a:off x="5451421" y="4664315"/>
            <a:ext cx="392430" cy="255080"/>
          </a:xfrm>
          <a:prstGeom prst="rect">
            <a:avLst/>
          </a:prstGeom>
        </p:spPr>
      </p:pic>
      <p:pic>
        <p:nvPicPr>
          <p:cNvPr id="178" name="shaft"/>
          <p:cNvPicPr/>
          <p:nvPr/>
        </p:nvPicPr>
        <p:blipFill>
          <a:blip r:embed="rId53"/>
          <a:stretch>
            <a:fillRect/>
          </a:stretch>
        </p:blipFill>
        <p:spPr>
          <a:xfrm>
            <a:off x="6405587" y="4693467"/>
            <a:ext cx="750663" cy="211352"/>
          </a:xfrm>
          <a:prstGeom prst="rect">
            <a:avLst/>
          </a:prstGeom>
        </p:spPr>
      </p:pic>
      <p:pic>
        <p:nvPicPr>
          <p:cNvPr id="179" name="propeller"/>
          <p:cNvPicPr/>
          <p:nvPr/>
        </p:nvPicPr>
        <p:blipFill>
          <a:blip r:embed="rId54"/>
          <a:stretch>
            <a:fillRect/>
          </a:stretch>
        </p:blipFill>
        <p:spPr>
          <a:xfrm>
            <a:off x="7366583" y="4649739"/>
            <a:ext cx="293558" cy="291520"/>
          </a:xfrm>
          <a:prstGeom prst="rect">
            <a:avLst/>
          </a:prstGeom>
        </p:spPr>
      </p:pic>
      <p:pic>
        <p:nvPicPr>
          <p:cNvPr id="180" name="redfuel"/>
          <p:cNvPicPr/>
          <p:nvPr/>
        </p:nvPicPr>
        <p:blipFill>
          <a:blip r:embed="rId55"/>
          <a:stretch>
            <a:fillRect/>
          </a:stretch>
        </p:blipFill>
        <p:spPr>
          <a:xfrm>
            <a:off x="8360678" y="4664315"/>
            <a:ext cx="222110" cy="255080"/>
          </a:xfrm>
          <a:prstGeom prst="rect">
            <a:avLst/>
          </a:prstGeom>
        </p:spPr>
      </p:pic>
      <p:pic>
        <p:nvPicPr>
          <p:cNvPr id="181" name="engine"/>
          <p:cNvPicPr/>
          <p:nvPr/>
        </p:nvPicPr>
        <p:blipFill>
          <a:blip r:embed="rId56"/>
          <a:stretch>
            <a:fillRect/>
          </a:stretch>
        </p:blipFill>
        <p:spPr>
          <a:xfrm>
            <a:off x="9101023" y="4671603"/>
            <a:ext cx="381218" cy="247792"/>
          </a:xfrm>
          <a:prstGeom prst="rect">
            <a:avLst/>
          </a:prstGeom>
        </p:spPr>
      </p:pic>
      <p:pic>
        <p:nvPicPr>
          <p:cNvPr id="182" name="motor"/>
          <p:cNvPicPr/>
          <p:nvPr/>
        </p:nvPicPr>
        <p:blipFill>
          <a:blip r:embed="rId57"/>
          <a:stretch>
            <a:fillRect/>
          </a:stretch>
        </p:blipFill>
        <p:spPr>
          <a:xfrm>
            <a:off x="9550356" y="4685243"/>
            <a:ext cx="357112" cy="220512"/>
          </a:xfrm>
          <a:prstGeom prst="rect">
            <a:avLst/>
          </a:prstGeom>
        </p:spPr>
      </p:pic>
      <p:pic>
        <p:nvPicPr>
          <p:cNvPr id="183" name="graybattery"/>
          <p:cNvPicPr/>
          <p:nvPr/>
        </p:nvPicPr>
        <p:blipFill>
          <a:blip r:embed="rId58"/>
          <a:stretch>
            <a:fillRect/>
          </a:stretch>
        </p:blipFill>
        <p:spPr>
          <a:xfrm>
            <a:off x="10395763" y="4689155"/>
            <a:ext cx="393552" cy="205399"/>
          </a:xfrm>
          <a:prstGeom prst="rect">
            <a:avLst/>
          </a:prstGeom>
        </p:spPr>
      </p:pic>
      <p:pic>
        <p:nvPicPr>
          <p:cNvPr id="184" name="shaft"/>
          <p:cNvPicPr/>
          <p:nvPr/>
        </p:nvPicPr>
        <p:blipFill>
          <a:blip r:embed="rId59"/>
          <a:stretch>
            <a:fillRect/>
          </a:stretch>
        </p:blipFill>
        <p:spPr>
          <a:xfrm>
            <a:off x="10891346" y="4748056"/>
            <a:ext cx="466431" cy="131325"/>
          </a:xfrm>
          <a:prstGeom prst="rect">
            <a:avLst/>
          </a:prstGeom>
        </p:spPr>
      </p:pic>
      <p:pic>
        <p:nvPicPr>
          <p:cNvPr id="185" name="propeller"/>
          <p:cNvPicPr/>
          <p:nvPr/>
        </p:nvPicPr>
        <p:blipFill>
          <a:blip r:embed="rId60"/>
          <a:stretch>
            <a:fillRect/>
          </a:stretch>
        </p:blipFill>
        <p:spPr>
          <a:xfrm>
            <a:off x="11509806" y="4649739"/>
            <a:ext cx="293558" cy="291520"/>
          </a:xfrm>
          <a:prstGeom prst="rect">
            <a:avLst/>
          </a:prstGeom>
        </p:spPr>
      </p:pic>
      <p:pic>
        <p:nvPicPr>
          <p:cNvPr id="186" name="redfuel"/>
          <p:cNvPicPr/>
          <p:nvPr/>
        </p:nvPicPr>
        <p:blipFill>
          <a:blip r:embed="rId61"/>
          <a:stretch>
            <a:fillRect/>
          </a:stretch>
        </p:blipFill>
        <p:spPr>
          <a:xfrm>
            <a:off x="496935" y="5378538"/>
            <a:ext cx="222110" cy="255080"/>
          </a:xfrm>
          <a:prstGeom prst="rect">
            <a:avLst/>
          </a:prstGeom>
        </p:spPr>
      </p:pic>
      <p:pic>
        <p:nvPicPr>
          <p:cNvPr id="187" name="battery"/>
          <p:cNvPicPr/>
          <p:nvPr/>
        </p:nvPicPr>
        <p:blipFill>
          <a:blip r:embed="rId62"/>
          <a:stretch>
            <a:fillRect/>
          </a:stretch>
        </p:blipFill>
        <p:spPr>
          <a:xfrm>
            <a:off x="994254" y="5410442"/>
            <a:ext cx="276944" cy="191270"/>
          </a:xfrm>
          <a:prstGeom prst="rect">
            <a:avLst/>
          </a:prstGeom>
        </p:spPr>
      </p:pic>
      <p:pic>
        <p:nvPicPr>
          <p:cNvPr id="188" name="engine"/>
          <p:cNvPicPr/>
          <p:nvPr/>
        </p:nvPicPr>
        <p:blipFill>
          <a:blip r:embed="rId63"/>
          <a:stretch>
            <a:fillRect/>
          </a:stretch>
        </p:blipFill>
        <p:spPr>
          <a:xfrm>
            <a:off x="1555429" y="5386372"/>
            <a:ext cx="357112" cy="232123"/>
          </a:xfrm>
          <a:prstGeom prst="rect">
            <a:avLst/>
          </a:prstGeom>
        </p:spPr>
      </p:pic>
      <p:pic>
        <p:nvPicPr>
          <p:cNvPr id="189" name="motor"/>
          <p:cNvPicPr/>
          <p:nvPr/>
        </p:nvPicPr>
        <p:blipFill>
          <a:blip r:embed="rId64"/>
          <a:stretch>
            <a:fillRect/>
          </a:stretch>
        </p:blipFill>
        <p:spPr>
          <a:xfrm>
            <a:off x="2051012" y="5419179"/>
            <a:ext cx="269656" cy="166509"/>
          </a:xfrm>
          <a:prstGeom prst="rect">
            <a:avLst/>
          </a:prstGeom>
        </p:spPr>
      </p:pic>
      <p:pic>
        <p:nvPicPr>
          <p:cNvPr id="190" name="shaft"/>
          <p:cNvPicPr/>
          <p:nvPr/>
        </p:nvPicPr>
        <p:blipFill>
          <a:blip r:embed="rId65"/>
          <a:stretch>
            <a:fillRect/>
          </a:stretch>
        </p:blipFill>
        <p:spPr>
          <a:xfrm>
            <a:off x="2692356" y="5412713"/>
            <a:ext cx="663207" cy="186728"/>
          </a:xfrm>
          <a:prstGeom prst="rect">
            <a:avLst/>
          </a:prstGeom>
        </p:spPr>
      </p:pic>
      <p:pic>
        <p:nvPicPr>
          <p:cNvPr id="191" name="propeller"/>
          <p:cNvPicPr/>
          <p:nvPr/>
        </p:nvPicPr>
        <p:blipFill>
          <a:blip r:embed="rId66"/>
          <a:stretch>
            <a:fillRect/>
          </a:stretch>
        </p:blipFill>
        <p:spPr>
          <a:xfrm>
            <a:off x="3492964" y="5356674"/>
            <a:ext cx="308236" cy="306096"/>
          </a:xfrm>
          <a:prstGeom prst="rect">
            <a:avLst/>
          </a:prstGeom>
        </p:spPr>
      </p:pic>
      <p:pic>
        <p:nvPicPr>
          <p:cNvPr id="192" name="redfuel"/>
          <p:cNvPicPr/>
          <p:nvPr/>
        </p:nvPicPr>
        <p:blipFill>
          <a:blip r:embed="rId67"/>
          <a:stretch>
            <a:fillRect/>
          </a:stretch>
        </p:blipFill>
        <p:spPr>
          <a:xfrm>
            <a:off x="4447026" y="5378538"/>
            <a:ext cx="222110" cy="255080"/>
          </a:xfrm>
          <a:prstGeom prst="rect">
            <a:avLst/>
          </a:prstGeom>
        </p:spPr>
      </p:pic>
      <p:pic>
        <p:nvPicPr>
          <p:cNvPr id="193" name="genset"/>
          <p:cNvPicPr/>
          <p:nvPr/>
        </p:nvPicPr>
        <p:blipFill>
          <a:blip r:embed="rId68"/>
          <a:stretch>
            <a:fillRect/>
          </a:stretch>
        </p:blipFill>
        <p:spPr>
          <a:xfrm>
            <a:off x="5133833" y="5391601"/>
            <a:ext cx="539311" cy="228953"/>
          </a:xfrm>
          <a:prstGeom prst="rect">
            <a:avLst/>
          </a:prstGeom>
        </p:spPr>
      </p:pic>
      <p:pic>
        <p:nvPicPr>
          <p:cNvPr id="194" name="bus"/>
          <p:cNvPicPr/>
          <p:nvPr/>
        </p:nvPicPr>
        <p:blipFill>
          <a:blip r:embed="rId69"/>
          <a:stretch>
            <a:fillRect/>
          </a:stretch>
        </p:blipFill>
        <p:spPr>
          <a:xfrm>
            <a:off x="6140890" y="5378538"/>
            <a:ext cx="376347" cy="255080"/>
          </a:xfrm>
          <a:prstGeom prst="rect">
            <a:avLst/>
          </a:prstGeom>
        </p:spPr>
      </p:pic>
      <p:pic>
        <p:nvPicPr>
          <p:cNvPr id="195" name="motor"/>
          <p:cNvPicPr/>
          <p:nvPr/>
        </p:nvPicPr>
        <p:blipFill>
          <a:blip r:embed="rId70"/>
          <a:stretch>
            <a:fillRect/>
          </a:stretch>
        </p:blipFill>
        <p:spPr>
          <a:xfrm>
            <a:off x="6999559" y="5380071"/>
            <a:ext cx="408128" cy="252013"/>
          </a:xfrm>
          <a:prstGeom prst="rect">
            <a:avLst/>
          </a:prstGeom>
        </p:spPr>
      </p:pic>
      <p:pic>
        <p:nvPicPr>
          <p:cNvPr id="196" name="hydrogen"/>
          <p:cNvPicPr/>
          <p:nvPr/>
        </p:nvPicPr>
        <p:blipFill>
          <a:blip r:embed="rId71"/>
          <a:stretch>
            <a:fillRect/>
          </a:stretch>
        </p:blipFill>
        <p:spPr>
          <a:xfrm>
            <a:off x="8384277" y="5409277"/>
            <a:ext cx="196776" cy="193602"/>
          </a:xfrm>
          <a:prstGeom prst="rect">
            <a:avLst/>
          </a:prstGeom>
        </p:spPr>
      </p:pic>
      <p:pic>
        <p:nvPicPr>
          <p:cNvPr id="197" name="bluefuel"/>
          <p:cNvPicPr/>
          <p:nvPr/>
        </p:nvPicPr>
        <p:blipFill>
          <a:blip r:embed="rId72"/>
          <a:stretch>
            <a:fillRect/>
          </a:stretch>
        </p:blipFill>
        <p:spPr>
          <a:xfrm>
            <a:off x="8713983" y="5378538"/>
            <a:ext cx="185996" cy="255080"/>
          </a:xfrm>
          <a:prstGeom prst="rect">
            <a:avLst/>
          </a:prstGeom>
        </p:spPr>
      </p:pic>
      <p:pic>
        <p:nvPicPr>
          <p:cNvPr id="198" name="lowfc"/>
          <p:cNvPicPr/>
          <p:nvPr/>
        </p:nvPicPr>
        <p:blipFill>
          <a:blip r:embed="rId73"/>
          <a:stretch>
            <a:fillRect/>
          </a:stretch>
        </p:blipFill>
        <p:spPr>
          <a:xfrm>
            <a:off x="9258836" y="5378566"/>
            <a:ext cx="320672" cy="255022"/>
          </a:xfrm>
          <a:prstGeom prst="rect">
            <a:avLst/>
          </a:prstGeom>
        </p:spPr>
      </p:pic>
      <p:pic>
        <p:nvPicPr>
          <p:cNvPr id="199" name="battery"/>
          <p:cNvPicPr/>
          <p:nvPr/>
        </p:nvPicPr>
        <p:blipFill>
          <a:blip r:embed="rId74"/>
          <a:stretch>
            <a:fillRect/>
          </a:stretch>
        </p:blipFill>
        <p:spPr>
          <a:xfrm>
            <a:off x="9717979" y="5430314"/>
            <a:ext cx="240504" cy="166103"/>
          </a:xfrm>
          <a:prstGeom prst="rect">
            <a:avLst/>
          </a:prstGeom>
        </p:spPr>
      </p:pic>
      <p:pic>
        <p:nvPicPr>
          <p:cNvPr id="200" name="graybattery"/>
          <p:cNvPicPr/>
          <p:nvPr/>
        </p:nvPicPr>
        <p:blipFill>
          <a:blip r:embed="rId75"/>
          <a:stretch>
            <a:fillRect/>
          </a:stretch>
        </p:blipFill>
        <p:spPr>
          <a:xfrm>
            <a:off x="10383078" y="5400402"/>
            <a:ext cx="418920" cy="218640"/>
          </a:xfrm>
          <a:prstGeom prst="rect">
            <a:avLst/>
          </a:prstGeom>
        </p:spPr>
      </p:pic>
      <p:pic>
        <p:nvPicPr>
          <p:cNvPr id="201" name="motor"/>
          <p:cNvPicPr/>
          <p:nvPr/>
        </p:nvPicPr>
        <p:blipFill>
          <a:blip r:embed="rId76"/>
          <a:stretch>
            <a:fillRect/>
          </a:stretch>
        </p:blipFill>
        <p:spPr>
          <a:xfrm>
            <a:off x="11264194" y="5378538"/>
            <a:ext cx="413094" cy="255080"/>
          </a:xfrm>
          <a:prstGeom prst="rect">
            <a:avLst/>
          </a:prstGeom>
        </p:spPr>
      </p:pic>
      <p:pic>
        <p:nvPicPr>
          <p:cNvPr id="202" name="shore"/>
          <p:cNvPicPr/>
          <p:nvPr/>
        </p:nvPicPr>
        <p:blipFill>
          <a:blip r:embed="rId77"/>
          <a:stretch>
            <a:fillRect/>
          </a:stretch>
        </p:blipFill>
        <p:spPr>
          <a:xfrm>
            <a:off x="467956" y="6056321"/>
            <a:ext cx="265491" cy="291520"/>
          </a:xfrm>
          <a:prstGeom prst="rect">
            <a:avLst/>
          </a:prstGeom>
        </p:spPr>
      </p:pic>
      <p:pic>
        <p:nvPicPr>
          <p:cNvPr id="203" name="charging"/>
          <p:cNvPicPr/>
          <p:nvPr/>
        </p:nvPicPr>
        <p:blipFill>
          <a:blip r:embed="rId78"/>
          <a:stretch>
            <a:fillRect/>
          </a:stretch>
        </p:blipFill>
        <p:spPr>
          <a:xfrm>
            <a:off x="1341663" y="6092761"/>
            <a:ext cx="223469" cy="247792"/>
          </a:xfrm>
          <a:prstGeom prst="rect">
            <a:avLst/>
          </a:prstGeom>
        </p:spPr>
      </p:pic>
      <p:pic>
        <p:nvPicPr>
          <p:cNvPr id="204" name="battery"/>
          <p:cNvPicPr/>
          <p:nvPr/>
        </p:nvPicPr>
        <p:blipFill>
          <a:blip r:embed="rId79"/>
          <a:stretch>
            <a:fillRect/>
          </a:stretch>
        </p:blipFill>
        <p:spPr>
          <a:xfrm>
            <a:off x="2204060" y="6116853"/>
            <a:ext cx="320672" cy="221471"/>
          </a:xfrm>
          <a:prstGeom prst="rect">
            <a:avLst/>
          </a:prstGeom>
        </p:spPr>
      </p:pic>
      <p:pic>
        <p:nvPicPr>
          <p:cNvPr id="205" name="motor"/>
          <p:cNvPicPr/>
          <p:nvPr/>
        </p:nvPicPr>
        <p:blipFill>
          <a:blip r:embed="rId80"/>
          <a:stretch>
            <a:fillRect/>
          </a:stretch>
        </p:blipFill>
        <p:spPr>
          <a:xfrm>
            <a:off x="3144211" y="6088400"/>
            <a:ext cx="415416" cy="256513"/>
          </a:xfrm>
          <a:prstGeom prst="rect">
            <a:avLst/>
          </a:prstGeom>
        </p:spPr>
      </p:pic>
      <p:pic>
        <p:nvPicPr>
          <p:cNvPr id="206" name="redfuel"/>
          <p:cNvPicPr/>
          <p:nvPr/>
        </p:nvPicPr>
        <p:blipFill>
          <a:blip r:embed="rId81"/>
          <a:stretch>
            <a:fillRect/>
          </a:stretch>
        </p:blipFill>
        <p:spPr>
          <a:xfrm>
            <a:off x="4354018" y="6119322"/>
            <a:ext cx="182200" cy="209245"/>
          </a:xfrm>
          <a:prstGeom prst="rect">
            <a:avLst/>
          </a:prstGeom>
        </p:spPr>
      </p:pic>
      <p:pic>
        <p:nvPicPr>
          <p:cNvPr id="207" name="hydrogen"/>
          <p:cNvPicPr/>
          <p:nvPr/>
        </p:nvPicPr>
        <p:blipFill>
          <a:blip r:embed="rId82"/>
          <a:stretch>
            <a:fillRect/>
          </a:stretch>
        </p:blipFill>
        <p:spPr>
          <a:xfrm>
            <a:off x="4558081" y="6137899"/>
            <a:ext cx="174912" cy="172091"/>
          </a:xfrm>
          <a:prstGeom prst="rect">
            <a:avLst/>
          </a:prstGeom>
        </p:spPr>
      </p:pic>
      <p:pic>
        <p:nvPicPr>
          <p:cNvPr id="208" name="battery"/>
          <p:cNvPicPr/>
          <p:nvPr/>
        </p:nvPicPr>
        <p:blipFill>
          <a:blip r:embed="rId83"/>
          <a:stretch>
            <a:fillRect/>
          </a:stretch>
        </p:blipFill>
        <p:spPr>
          <a:xfrm>
            <a:off x="4762145" y="6158510"/>
            <a:ext cx="189488" cy="130869"/>
          </a:xfrm>
          <a:prstGeom prst="rect">
            <a:avLst/>
          </a:prstGeom>
        </p:spPr>
      </p:pic>
      <p:pic>
        <p:nvPicPr>
          <p:cNvPr id="209" name="nuclear"/>
          <p:cNvPicPr/>
          <p:nvPr/>
        </p:nvPicPr>
        <p:blipFill>
          <a:blip r:embed="rId84"/>
          <a:stretch>
            <a:fillRect/>
          </a:stretch>
        </p:blipFill>
        <p:spPr>
          <a:xfrm>
            <a:off x="4980785" y="6110040"/>
            <a:ext cx="225928" cy="227810"/>
          </a:xfrm>
          <a:prstGeom prst="rect">
            <a:avLst/>
          </a:prstGeom>
        </p:spPr>
      </p:pic>
      <p:pic>
        <p:nvPicPr>
          <p:cNvPr id="210" name="engine"/>
          <p:cNvPicPr/>
          <p:nvPr/>
        </p:nvPicPr>
        <p:blipFill>
          <a:blip r:embed="rId85"/>
          <a:stretch>
            <a:fillRect/>
          </a:stretch>
        </p:blipFill>
        <p:spPr>
          <a:xfrm>
            <a:off x="5483656" y="6116265"/>
            <a:ext cx="342536" cy="222648"/>
          </a:xfrm>
          <a:prstGeom prst="rect">
            <a:avLst/>
          </a:prstGeom>
        </p:spPr>
      </p:pic>
      <p:pic>
        <p:nvPicPr>
          <p:cNvPr id="211" name="lowfc"/>
          <p:cNvPicPr/>
          <p:nvPr/>
        </p:nvPicPr>
        <p:blipFill>
          <a:blip r:embed="rId86"/>
          <a:stretch>
            <a:fillRect/>
          </a:stretch>
        </p:blipFill>
        <p:spPr>
          <a:xfrm>
            <a:off x="5993816" y="6129057"/>
            <a:ext cx="247792" cy="197063"/>
          </a:xfrm>
          <a:prstGeom prst="rect">
            <a:avLst/>
          </a:prstGeom>
        </p:spPr>
      </p:pic>
      <p:pic>
        <p:nvPicPr>
          <p:cNvPr id="212" name="battery"/>
          <p:cNvPicPr/>
          <p:nvPr/>
        </p:nvPicPr>
        <p:blipFill>
          <a:blip r:embed="rId87"/>
          <a:stretch>
            <a:fillRect/>
          </a:stretch>
        </p:blipFill>
        <p:spPr>
          <a:xfrm>
            <a:off x="6416519" y="6149571"/>
            <a:ext cx="225928" cy="156036"/>
          </a:xfrm>
          <a:prstGeom prst="rect">
            <a:avLst/>
          </a:prstGeom>
        </p:spPr>
      </p:pic>
      <p:pic>
        <p:nvPicPr>
          <p:cNvPr id="213" name="bus"/>
          <p:cNvPicPr/>
          <p:nvPr/>
        </p:nvPicPr>
        <p:blipFill>
          <a:blip r:embed="rId88"/>
          <a:stretch>
            <a:fillRect/>
          </a:stretch>
        </p:blipFill>
        <p:spPr>
          <a:xfrm>
            <a:off x="6933369" y="6100049"/>
            <a:ext cx="365594" cy="247792"/>
          </a:xfrm>
          <a:prstGeom prst="rect">
            <a:avLst/>
          </a:prstGeom>
        </p:spPr>
      </p:pic>
      <p:pic>
        <p:nvPicPr>
          <p:cNvPr id="214" name="multiprop"/>
          <p:cNvPicPr/>
          <p:nvPr/>
        </p:nvPicPr>
        <p:blipFill>
          <a:blip r:embed="rId89"/>
          <a:stretch>
            <a:fillRect/>
          </a:stretch>
        </p:blipFill>
        <p:spPr>
          <a:xfrm>
            <a:off x="7626326" y="6079628"/>
            <a:ext cx="306096" cy="259482"/>
          </a:xfrm>
          <a:prstGeom prst="rect">
            <a:avLst/>
          </a:prstGeom>
        </p:spPr>
      </p:pic>
      <p:pic>
        <p:nvPicPr>
          <p:cNvPr id="215" name="nuclear"/>
          <p:cNvPicPr/>
          <p:nvPr/>
        </p:nvPicPr>
        <p:blipFill>
          <a:blip r:embed="rId90"/>
          <a:stretch>
            <a:fillRect/>
          </a:stretch>
        </p:blipFill>
        <p:spPr>
          <a:xfrm>
            <a:off x="8376989" y="6077092"/>
            <a:ext cx="262368" cy="264554"/>
          </a:xfrm>
          <a:prstGeom prst="rect">
            <a:avLst/>
          </a:prstGeom>
        </p:spPr>
      </p:pic>
      <p:pic>
        <p:nvPicPr>
          <p:cNvPr id="216" name="reactor"/>
          <p:cNvPicPr/>
          <p:nvPr/>
        </p:nvPicPr>
        <p:blipFill>
          <a:blip r:embed="rId91"/>
          <a:stretch>
            <a:fillRect/>
          </a:stretch>
        </p:blipFill>
        <p:spPr>
          <a:xfrm>
            <a:off x="9184997" y="6078185"/>
            <a:ext cx="198694" cy="269656"/>
          </a:xfrm>
          <a:prstGeom prst="rect">
            <a:avLst/>
          </a:prstGeom>
        </p:spPr>
      </p:pic>
      <p:pic>
        <p:nvPicPr>
          <p:cNvPr id="217" name="nuclearheat"/>
          <p:cNvPicPr/>
          <p:nvPr/>
        </p:nvPicPr>
        <p:blipFill>
          <a:blip r:embed="rId92"/>
          <a:stretch>
            <a:fillRect/>
          </a:stretch>
        </p:blipFill>
        <p:spPr>
          <a:xfrm>
            <a:off x="9550356" y="6120135"/>
            <a:ext cx="473719" cy="214907"/>
          </a:xfrm>
          <a:prstGeom prst="rect">
            <a:avLst/>
          </a:prstGeom>
        </p:spPr>
      </p:pic>
      <p:pic>
        <p:nvPicPr>
          <p:cNvPr id="218" name="bus"/>
          <p:cNvPicPr/>
          <p:nvPr/>
        </p:nvPicPr>
        <p:blipFill>
          <a:blip r:embed="rId93"/>
          <a:stretch>
            <a:fillRect/>
          </a:stretch>
        </p:blipFill>
        <p:spPr>
          <a:xfrm>
            <a:off x="10466313" y="6085473"/>
            <a:ext cx="376347" cy="255080"/>
          </a:xfrm>
          <a:prstGeom prst="rect">
            <a:avLst/>
          </a:prstGeom>
        </p:spPr>
      </p:pic>
      <p:pic>
        <p:nvPicPr>
          <p:cNvPr id="219" name="motor"/>
          <p:cNvPicPr/>
          <p:nvPr/>
        </p:nvPicPr>
        <p:blipFill>
          <a:blip r:embed="rId94"/>
          <a:stretch>
            <a:fillRect/>
          </a:stretch>
        </p:blipFill>
        <p:spPr>
          <a:xfrm>
            <a:off x="11328916" y="6078185"/>
            <a:ext cx="436699" cy="269656"/>
          </a:xfrm>
          <a:prstGeom prst="rect">
            <a:avLst/>
          </a:prstGeom>
        </p:spPr>
      </p:pic>
      <p:pic>
        <p:nvPicPr>
          <p:cNvPr id="220" name="document-white"/>
          <p:cNvPicPr/>
          <p:nvPr/>
        </p:nvPicPr>
        <p:blipFill>
          <a:blip r:embed="rId95"/>
          <a:stretch>
            <a:fillRect/>
          </a:stretch>
        </p:blipFill>
        <p:spPr>
          <a:xfrm>
            <a:off x="2386260" y="6578657"/>
            <a:ext cx="174912" cy="216151"/>
          </a:xfrm>
          <a:prstGeom prst="rect">
            <a:avLst/>
          </a:prstGeom>
        </p:spPr>
      </p:pic>
      <p:sp>
        <p:nvSpPr>
          <p:cNvPr id="221" name="TextBox 221"/>
          <p:cNvSpPr txBox="1"/>
          <p:nvPr/>
        </p:nvSpPr>
        <p:spPr>
          <a:xfrm>
            <a:off x="2801675" y="14576"/>
            <a:ext cx="6843424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6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四层体系、32项构型要素与九类船舶动力构型</a:t>
            </a:r>
            <a:endParaRPr lang="zh-CN" sz="2468"/>
          </a:p>
        </p:txBody>
      </p:sp>
      <p:sp>
        <p:nvSpPr>
          <p:cNvPr id="222" name="TextBox 222"/>
          <p:cNvSpPr txBox="1"/>
          <p:nvPr/>
        </p:nvSpPr>
        <p:spPr>
          <a:xfrm>
            <a:off x="2546596" y="415416"/>
            <a:ext cx="7287991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任务约束定义边界｜构型要素组合生成方案｜安全准入与功能聚类形成九类主拓扑</a:t>
            </a:r>
            <a:endParaRPr lang="zh-CN" sz="1320"/>
          </a:p>
        </p:txBody>
      </p:sp>
      <p:sp>
        <p:nvSpPr>
          <p:cNvPr id="223" name="TextBox 223"/>
          <p:cNvSpPr txBox="1"/>
          <p:nvPr/>
        </p:nvSpPr>
        <p:spPr>
          <a:xfrm>
            <a:off x="272742" y="728799"/>
            <a:ext cx="205521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第一层｜能源组合 E</a:t>
            </a:r>
            <a:endParaRPr lang="zh-CN" sz="1378"/>
          </a:p>
        </p:txBody>
      </p:sp>
      <p:sp>
        <p:nvSpPr>
          <p:cNvPr id="224" name="TextBox 224"/>
          <p:cNvSpPr txBox="1"/>
          <p:nvPr/>
        </p:nvSpPr>
        <p:spPr>
          <a:xfrm>
            <a:off x="2451852" y="750663"/>
            <a:ext cx="488295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00589F"/>
                </a:solidFill>
                <a:latin typeface="Noto Sans CJK SC"/>
                <a:ea typeface="Noto Sans CJK SC"/>
                <a:cs typeface="Noto Sans CJK SC"/>
              </a:rPr>
              <a:t>8项</a:t>
            </a:r>
            <a:endParaRPr lang="zh-CN" sz="1378"/>
          </a:p>
        </p:txBody>
      </p:sp>
      <p:sp>
        <p:nvSpPr>
          <p:cNvPr id="225" name="TextBox 225"/>
          <p:cNvSpPr txBox="1"/>
          <p:nvPr/>
        </p:nvSpPr>
        <p:spPr>
          <a:xfrm>
            <a:off x="236302" y="1013031"/>
            <a:ext cx="2703845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能量从哪里来</a:t>
            </a:r>
            <a:endParaRPr lang="zh-CN" sz="1033"/>
          </a:p>
        </p:txBody>
      </p:sp>
      <p:sp>
        <p:nvSpPr>
          <p:cNvPr id="226" name="TextBox 226"/>
          <p:cNvSpPr txBox="1"/>
          <p:nvPr/>
        </p:nvSpPr>
        <p:spPr>
          <a:xfrm>
            <a:off x="221726" y="1552342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液体燃料</a:t>
            </a:r>
            <a:endParaRPr lang="zh-CN" sz="976"/>
          </a:p>
        </p:txBody>
      </p:sp>
      <p:sp>
        <p:nvSpPr>
          <p:cNvPr id="227" name="TextBox 227"/>
          <p:cNvSpPr txBox="1"/>
          <p:nvPr/>
        </p:nvSpPr>
        <p:spPr>
          <a:xfrm>
            <a:off x="908620" y="1552342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气体燃料</a:t>
            </a:r>
            <a:endParaRPr lang="zh-CN" sz="976"/>
          </a:p>
        </p:txBody>
      </p:sp>
      <p:sp>
        <p:nvSpPr>
          <p:cNvPr id="228" name="TextBox 228"/>
          <p:cNvSpPr txBox="1"/>
          <p:nvPr/>
        </p:nvSpPr>
        <p:spPr>
          <a:xfrm>
            <a:off x="1595513" y="1552342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甲醇</a:t>
            </a:r>
            <a:endParaRPr lang="zh-CN" sz="976"/>
          </a:p>
        </p:txBody>
      </p:sp>
      <p:sp>
        <p:nvSpPr>
          <p:cNvPr id="229" name="TextBox 229"/>
          <p:cNvSpPr txBox="1"/>
          <p:nvPr/>
        </p:nvSpPr>
        <p:spPr>
          <a:xfrm>
            <a:off x="2282406" y="1552342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氨</a:t>
            </a:r>
            <a:endParaRPr lang="zh-CN" sz="976"/>
          </a:p>
        </p:txBody>
      </p:sp>
      <p:sp>
        <p:nvSpPr>
          <p:cNvPr id="230" name="TextBox 230"/>
          <p:cNvSpPr txBox="1"/>
          <p:nvPr/>
        </p:nvSpPr>
        <p:spPr>
          <a:xfrm>
            <a:off x="221726" y="2142670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直接氢</a:t>
            </a:r>
            <a:endParaRPr lang="zh-CN" sz="976"/>
          </a:p>
        </p:txBody>
      </p:sp>
      <p:sp>
        <p:nvSpPr>
          <p:cNvPr id="231" name="TextBox 231"/>
          <p:cNvSpPr txBox="1"/>
          <p:nvPr/>
        </p:nvSpPr>
        <p:spPr>
          <a:xfrm>
            <a:off x="908620" y="2142670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电能</a:t>
            </a:r>
            <a:endParaRPr lang="zh-CN" sz="976"/>
          </a:p>
        </p:txBody>
      </p:sp>
      <p:sp>
        <p:nvSpPr>
          <p:cNvPr id="232" name="TextBox 232"/>
          <p:cNvSpPr txBox="1"/>
          <p:nvPr/>
        </p:nvSpPr>
        <p:spPr>
          <a:xfrm>
            <a:off x="1595513" y="2142670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核能</a:t>
            </a:r>
            <a:endParaRPr lang="zh-CN" sz="976"/>
          </a:p>
        </p:txBody>
      </p:sp>
      <p:sp>
        <p:nvSpPr>
          <p:cNvPr id="233" name="TextBox 233"/>
          <p:cNvSpPr txBox="1"/>
          <p:nvPr/>
        </p:nvSpPr>
        <p:spPr>
          <a:xfrm>
            <a:off x="2282406" y="2142670"/>
            <a:ext cx="63587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多能源</a:t>
            </a:r>
            <a:endParaRPr lang="zh-CN" sz="976"/>
          </a:p>
        </p:txBody>
      </p:sp>
      <p:sp>
        <p:nvSpPr>
          <p:cNvPr id="234" name="TextBox 234"/>
          <p:cNvSpPr txBox="1"/>
          <p:nvPr/>
        </p:nvSpPr>
        <p:spPr>
          <a:xfrm>
            <a:off x="3289971" y="728799"/>
            <a:ext cx="2033350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第二层｜转换装置 C</a:t>
            </a:r>
            <a:endParaRPr lang="zh-CN" sz="1378"/>
          </a:p>
        </p:txBody>
      </p:sp>
      <p:sp>
        <p:nvSpPr>
          <p:cNvPr id="235" name="TextBox 235"/>
          <p:cNvSpPr txBox="1"/>
          <p:nvPr/>
        </p:nvSpPr>
        <p:spPr>
          <a:xfrm>
            <a:off x="5447216" y="750663"/>
            <a:ext cx="488295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009EB3"/>
                </a:solidFill>
                <a:latin typeface="Noto Sans CJK SC"/>
                <a:ea typeface="Noto Sans CJK SC"/>
                <a:cs typeface="Noto Sans CJK SC"/>
              </a:rPr>
              <a:t>6项</a:t>
            </a:r>
            <a:endParaRPr lang="zh-CN" sz="1378"/>
          </a:p>
        </p:txBody>
      </p:sp>
      <p:sp>
        <p:nvSpPr>
          <p:cNvPr id="236" name="TextBox 236"/>
          <p:cNvSpPr txBox="1"/>
          <p:nvPr/>
        </p:nvSpPr>
        <p:spPr>
          <a:xfrm>
            <a:off x="3253531" y="1013031"/>
            <a:ext cx="2681981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能源如何转化</a:t>
            </a:r>
            <a:endParaRPr lang="zh-CN" sz="1033"/>
          </a:p>
        </p:txBody>
      </p:sp>
      <p:sp>
        <p:nvSpPr>
          <p:cNvPr id="237" name="TextBox 237"/>
          <p:cNvSpPr txBox="1"/>
          <p:nvPr/>
        </p:nvSpPr>
        <p:spPr>
          <a:xfrm>
            <a:off x="3238955" y="1552342"/>
            <a:ext cx="85755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内燃机</a:t>
            </a:r>
            <a:endParaRPr lang="zh-CN" sz="976"/>
          </a:p>
        </p:txBody>
      </p:sp>
      <p:sp>
        <p:nvSpPr>
          <p:cNvPr id="238" name="TextBox 238"/>
          <p:cNvSpPr txBox="1"/>
          <p:nvPr/>
        </p:nvSpPr>
        <p:spPr>
          <a:xfrm>
            <a:off x="4147525" y="1552342"/>
            <a:ext cx="85755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低温燃料电池</a:t>
            </a:r>
            <a:endParaRPr lang="zh-CN" sz="976"/>
          </a:p>
        </p:txBody>
      </p:sp>
      <p:sp>
        <p:nvSpPr>
          <p:cNvPr id="239" name="TextBox 239"/>
          <p:cNvSpPr txBox="1"/>
          <p:nvPr/>
        </p:nvSpPr>
        <p:spPr>
          <a:xfrm>
            <a:off x="5056094" y="1552342"/>
            <a:ext cx="85755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高温燃料电池</a:t>
            </a:r>
            <a:endParaRPr lang="zh-CN" sz="976"/>
          </a:p>
        </p:txBody>
      </p:sp>
      <p:sp>
        <p:nvSpPr>
          <p:cNvPr id="240" name="TextBox 240"/>
          <p:cNvSpPr txBox="1"/>
          <p:nvPr/>
        </p:nvSpPr>
        <p:spPr>
          <a:xfrm>
            <a:off x="3238955" y="2142670"/>
            <a:ext cx="857554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重整/裂解</a:t>
            </a:r>
            <a:endParaRPr lang="zh-CN" sz="869"/>
          </a:p>
          <a:p>
            <a:pPr algn="ctr"/>
            <a:r>
              <a:rPr lang="zh-CN" sz="869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燃料电池</a:t>
            </a:r>
            <a:endParaRPr lang="zh-CN" sz="869"/>
          </a:p>
        </p:txBody>
      </p:sp>
      <p:sp>
        <p:nvSpPr>
          <p:cNvPr id="241" name="TextBox 241"/>
          <p:cNvSpPr txBox="1"/>
          <p:nvPr/>
        </p:nvSpPr>
        <p:spPr>
          <a:xfrm>
            <a:off x="4147525" y="2142670"/>
            <a:ext cx="85755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电池</a:t>
            </a:r>
            <a:endParaRPr lang="zh-CN" sz="976"/>
          </a:p>
        </p:txBody>
      </p:sp>
      <p:sp>
        <p:nvSpPr>
          <p:cNvPr id="242" name="TextBox 242"/>
          <p:cNvSpPr txBox="1"/>
          <p:nvPr/>
        </p:nvSpPr>
        <p:spPr>
          <a:xfrm>
            <a:off x="5056094" y="2142670"/>
            <a:ext cx="85755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核热/电转换</a:t>
            </a:r>
            <a:endParaRPr lang="zh-CN" sz="976"/>
          </a:p>
        </p:txBody>
      </p:sp>
      <p:sp>
        <p:nvSpPr>
          <p:cNvPr id="243" name="TextBox 243"/>
          <p:cNvSpPr txBox="1"/>
          <p:nvPr/>
        </p:nvSpPr>
        <p:spPr>
          <a:xfrm>
            <a:off x="6292623" y="728799"/>
            <a:ext cx="2018774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第三层｜推进拓扑 T</a:t>
            </a:r>
            <a:endParaRPr lang="zh-CN" sz="1378"/>
          </a:p>
        </p:txBody>
      </p:sp>
      <p:sp>
        <p:nvSpPr>
          <p:cNvPr id="244" name="TextBox 244"/>
          <p:cNvSpPr txBox="1"/>
          <p:nvPr/>
        </p:nvSpPr>
        <p:spPr>
          <a:xfrm>
            <a:off x="8435293" y="750663"/>
            <a:ext cx="488295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008B3C"/>
                </a:solidFill>
                <a:latin typeface="Noto Sans CJK SC"/>
                <a:ea typeface="Noto Sans CJK SC"/>
                <a:cs typeface="Noto Sans CJK SC"/>
              </a:rPr>
              <a:t>8项</a:t>
            </a:r>
            <a:endParaRPr lang="zh-CN" sz="1378"/>
          </a:p>
        </p:txBody>
      </p:sp>
      <p:sp>
        <p:nvSpPr>
          <p:cNvPr id="245" name="TextBox 245"/>
          <p:cNvSpPr txBox="1"/>
          <p:nvPr/>
        </p:nvSpPr>
        <p:spPr>
          <a:xfrm>
            <a:off x="6256183" y="1013031"/>
            <a:ext cx="2667405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功率如何传递</a:t>
            </a:r>
            <a:endParaRPr lang="zh-CN" sz="1033"/>
          </a:p>
        </p:txBody>
      </p:sp>
      <p:sp>
        <p:nvSpPr>
          <p:cNvPr id="246" name="TextBox 246"/>
          <p:cNvSpPr txBox="1"/>
          <p:nvPr/>
        </p:nvSpPr>
        <p:spPr>
          <a:xfrm>
            <a:off x="6241607" y="1552342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机械直驱</a:t>
            </a:r>
            <a:endParaRPr lang="zh-CN" sz="976"/>
          </a:p>
        </p:txBody>
      </p:sp>
      <p:sp>
        <p:nvSpPr>
          <p:cNvPr id="247" name="TextBox 247"/>
          <p:cNvSpPr txBox="1"/>
          <p:nvPr/>
        </p:nvSpPr>
        <p:spPr>
          <a:xfrm>
            <a:off x="6919391" y="1552342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轴带电机</a:t>
            </a:r>
            <a:endParaRPr lang="zh-CN" sz="976"/>
          </a:p>
        </p:txBody>
      </p:sp>
      <p:sp>
        <p:nvSpPr>
          <p:cNvPr id="248" name="TextBox 248"/>
          <p:cNvSpPr txBox="1"/>
          <p:nvPr/>
        </p:nvSpPr>
        <p:spPr>
          <a:xfrm>
            <a:off x="7597174" y="1552342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串联电推</a:t>
            </a:r>
            <a:endParaRPr lang="zh-CN" sz="976"/>
          </a:p>
        </p:txBody>
      </p:sp>
      <p:sp>
        <p:nvSpPr>
          <p:cNvPr id="249" name="TextBox 249"/>
          <p:cNvSpPr txBox="1"/>
          <p:nvPr/>
        </p:nvSpPr>
        <p:spPr>
          <a:xfrm>
            <a:off x="8274957" y="1552342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并联混合</a:t>
            </a:r>
            <a:endParaRPr lang="zh-CN" sz="976"/>
          </a:p>
        </p:txBody>
      </p:sp>
      <p:sp>
        <p:nvSpPr>
          <p:cNvPr id="250" name="TextBox 250"/>
          <p:cNvSpPr txBox="1"/>
          <p:nvPr/>
        </p:nvSpPr>
        <p:spPr>
          <a:xfrm>
            <a:off x="6241607" y="2142670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串并联</a:t>
            </a:r>
            <a:endParaRPr lang="zh-CN" sz="976"/>
          </a:p>
        </p:txBody>
      </p:sp>
      <p:sp>
        <p:nvSpPr>
          <p:cNvPr id="251" name="TextBox 251"/>
          <p:cNvSpPr txBox="1"/>
          <p:nvPr/>
        </p:nvSpPr>
        <p:spPr>
          <a:xfrm>
            <a:off x="6919391" y="2142670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综合电力</a:t>
            </a:r>
            <a:endParaRPr lang="zh-CN" sz="976"/>
          </a:p>
        </p:txBody>
      </p:sp>
      <p:sp>
        <p:nvSpPr>
          <p:cNvPr id="252" name="TextBox 252"/>
          <p:cNvSpPr txBox="1"/>
          <p:nvPr/>
        </p:nvSpPr>
        <p:spPr>
          <a:xfrm>
            <a:off x="7597174" y="2142670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分布式推进</a:t>
            </a:r>
            <a:endParaRPr lang="zh-CN" sz="976"/>
          </a:p>
        </p:txBody>
      </p:sp>
      <p:sp>
        <p:nvSpPr>
          <p:cNvPr id="253" name="TextBox 253"/>
          <p:cNvSpPr txBox="1"/>
          <p:nvPr/>
        </p:nvSpPr>
        <p:spPr>
          <a:xfrm>
            <a:off x="8274957" y="2142670"/>
            <a:ext cx="62676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岸电增强</a:t>
            </a:r>
            <a:endParaRPr lang="zh-CN" sz="976"/>
          </a:p>
        </p:txBody>
      </p:sp>
      <p:sp>
        <p:nvSpPr>
          <p:cNvPr id="254" name="TextBox 254"/>
          <p:cNvSpPr txBox="1"/>
          <p:nvPr/>
        </p:nvSpPr>
        <p:spPr>
          <a:xfrm>
            <a:off x="9273412" y="728799"/>
            <a:ext cx="2069790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第四层｜辅助与风险控制 A</a:t>
            </a:r>
            <a:endParaRPr lang="zh-CN" sz="1370"/>
          </a:p>
        </p:txBody>
      </p:sp>
      <p:sp>
        <p:nvSpPr>
          <p:cNvPr id="255" name="TextBox 255"/>
          <p:cNvSpPr txBox="1"/>
          <p:nvPr/>
        </p:nvSpPr>
        <p:spPr>
          <a:xfrm>
            <a:off x="11467097" y="750663"/>
            <a:ext cx="488295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BD9209"/>
                </a:solidFill>
                <a:latin typeface="Noto Sans CJK SC"/>
                <a:ea typeface="Noto Sans CJK SC"/>
                <a:cs typeface="Noto Sans CJK SC"/>
              </a:rPr>
              <a:t>10项</a:t>
            </a:r>
            <a:endParaRPr lang="zh-CN" sz="1378"/>
          </a:p>
        </p:txBody>
      </p:sp>
      <p:sp>
        <p:nvSpPr>
          <p:cNvPr id="256" name="TextBox 256"/>
          <p:cNvSpPr txBox="1"/>
          <p:nvPr/>
        </p:nvSpPr>
        <p:spPr>
          <a:xfrm>
            <a:off x="9236972" y="1013031"/>
            <a:ext cx="2718421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如何增强性能与控制风险</a:t>
            </a:r>
            <a:endParaRPr lang="zh-CN" sz="1033"/>
          </a:p>
        </p:txBody>
      </p:sp>
      <p:sp>
        <p:nvSpPr>
          <p:cNvPr id="257" name="TextBox 257"/>
          <p:cNvSpPr txBox="1"/>
          <p:nvPr/>
        </p:nvSpPr>
        <p:spPr>
          <a:xfrm>
            <a:off x="9222396" y="1552342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储能</a:t>
            </a:r>
            <a:endParaRPr lang="zh-CN" sz="918"/>
          </a:p>
        </p:txBody>
      </p:sp>
      <p:sp>
        <p:nvSpPr>
          <p:cNvPr id="258" name="TextBox 258"/>
          <p:cNvSpPr txBox="1"/>
          <p:nvPr/>
        </p:nvSpPr>
        <p:spPr>
          <a:xfrm>
            <a:off x="9774826" y="1552342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岸电</a:t>
            </a:r>
            <a:endParaRPr lang="zh-CN" sz="918"/>
          </a:p>
        </p:txBody>
      </p:sp>
      <p:sp>
        <p:nvSpPr>
          <p:cNvPr id="259" name="TextBox 259"/>
          <p:cNvSpPr txBox="1"/>
          <p:nvPr/>
        </p:nvSpPr>
        <p:spPr>
          <a:xfrm>
            <a:off x="10327255" y="1552342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风助</a:t>
            </a:r>
            <a:endParaRPr lang="zh-CN" sz="918"/>
          </a:p>
        </p:txBody>
      </p:sp>
      <p:sp>
        <p:nvSpPr>
          <p:cNvPr id="260" name="TextBox 260"/>
          <p:cNvSpPr txBox="1"/>
          <p:nvPr/>
        </p:nvSpPr>
        <p:spPr>
          <a:xfrm>
            <a:off x="10879685" y="1552342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余热</a:t>
            </a:r>
            <a:endParaRPr lang="zh-CN" sz="918"/>
          </a:p>
        </p:txBody>
      </p:sp>
      <p:sp>
        <p:nvSpPr>
          <p:cNvPr id="261" name="TextBox 261"/>
          <p:cNvSpPr txBox="1"/>
          <p:nvPr/>
        </p:nvSpPr>
        <p:spPr>
          <a:xfrm>
            <a:off x="11432115" y="1552342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碳捕集</a:t>
            </a:r>
            <a:endParaRPr lang="zh-CN" sz="918"/>
          </a:p>
        </p:txBody>
      </p:sp>
      <p:sp>
        <p:nvSpPr>
          <p:cNvPr id="262" name="TextBox 262"/>
          <p:cNvSpPr txBox="1"/>
          <p:nvPr/>
        </p:nvSpPr>
        <p:spPr>
          <a:xfrm>
            <a:off x="9222396" y="2142670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90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排放后处理</a:t>
            </a:r>
            <a:endParaRPr lang="zh-CN" sz="790"/>
          </a:p>
        </p:txBody>
      </p:sp>
      <p:sp>
        <p:nvSpPr>
          <p:cNvPr id="263" name="TextBox 263"/>
          <p:cNvSpPr txBox="1"/>
          <p:nvPr/>
        </p:nvSpPr>
        <p:spPr>
          <a:xfrm>
            <a:off x="9774826" y="2142670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冗余</a:t>
            </a:r>
            <a:endParaRPr lang="zh-CN" sz="918"/>
          </a:p>
        </p:txBody>
      </p:sp>
      <p:sp>
        <p:nvSpPr>
          <p:cNvPr id="264" name="TextBox 264"/>
          <p:cNvSpPr txBox="1"/>
          <p:nvPr/>
        </p:nvSpPr>
        <p:spPr>
          <a:xfrm>
            <a:off x="10327255" y="2142670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应急返港</a:t>
            </a:r>
            <a:endParaRPr lang="zh-CN" sz="918"/>
          </a:p>
        </p:txBody>
      </p:sp>
      <p:sp>
        <p:nvSpPr>
          <p:cNvPr id="265" name="TextBox 265"/>
          <p:cNvSpPr txBox="1"/>
          <p:nvPr/>
        </p:nvSpPr>
        <p:spPr>
          <a:xfrm>
            <a:off x="10879685" y="2142670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90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模块化升级</a:t>
            </a:r>
            <a:endParaRPr lang="zh-CN" sz="790"/>
          </a:p>
        </p:txBody>
      </p:sp>
      <p:sp>
        <p:nvSpPr>
          <p:cNvPr id="266" name="TextBox 266"/>
          <p:cNvSpPr txBox="1"/>
          <p:nvPr/>
        </p:nvSpPr>
        <p:spPr>
          <a:xfrm>
            <a:off x="11432115" y="2142670"/>
            <a:ext cx="50141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01C2C"/>
                </a:solidFill>
                <a:latin typeface="Noto Sans CJK SC"/>
                <a:ea typeface="Noto Sans CJK SC"/>
                <a:cs typeface="Noto Sans CJK SC"/>
              </a:rPr>
              <a:t>AI管理</a:t>
            </a:r>
            <a:endParaRPr lang="zh-CN" sz="918"/>
          </a:p>
        </p:txBody>
      </p:sp>
      <p:sp>
        <p:nvSpPr>
          <p:cNvPr id="267" name="TextBox 267"/>
          <p:cNvSpPr txBox="1"/>
          <p:nvPr/>
        </p:nvSpPr>
        <p:spPr>
          <a:xfrm>
            <a:off x="3873010" y="2565373"/>
            <a:ext cx="36440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  <a:endParaRPr lang="zh-CN" sz="1722"/>
          </a:p>
        </p:txBody>
      </p:sp>
      <p:sp>
        <p:nvSpPr>
          <p:cNvPr id="268" name="TextBox 268"/>
          <p:cNvSpPr txBox="1"/>
          <p:nvPr/>
        </p:nvSpPr>
        <p:spPr>
          <a:xfrm>
            <a:off x="4630961" y="2565373"/>
            <a:ext cx="36440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</a:t>
            </a:r>
            <a:endParaRPr lang="zh-CN" sz="1722"/>
          </a:p>
        </p:txBody>
      </p:sp>
      <p:sp>
        <p:nvSpPr>
          <p:cNvPr id="269" name="TextBox 269"/>
          <p:cNvSpPr txBox="1"/>
          <p:nvPr/>
        </p:nvSpPr>
        <p:spPr>
          <a:xfrm>
            <a:off x="5367048" y="2565373"/>
            <a:ext cx="36440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</a:t>
            </a:r>
            <a:endParaRPr lang="zh-CN" sz="1722"/>
          </a:p>
        </p:txBody>
      </p:sp>
      <p:sp>
        <p:nvSpPr>
          <p:cNvPr id="270" name="TextBox 270"/>
          <p:cNvSpPr txBox="1"/>
          <p:nvPr/>
        </p:nvSpPr>
        <p:spPr>
          <a:xfrm>
            <a:off x="6117712" y="2565373"/>
            <a:ext cx="422704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lang="zh-CN" sz="1722"/>
          </a:p>
        </p:txBody>
      </p:sp>
      <p:sp>
        <p:nvSpPr>
          <p:cNvPr id="271" name="TextBox 271"/>
          <p:cNvSpPr txBox="1"/>
          <p:nvPr/>
        </p:nvSpPr>
        <p:spPr>
          <a:xfrm>
            <a:off x="4295714" y="2550797"/>
            <a:ext cx="276944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007789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1722"/>
          </a:p>
        </p:txBody>
      </p:sp>
      <p:sp>
        <p:nvSpPr>
          <p:cNvPr id="272" name="TextBox 272"/>
          <p:cNvSpPr txBox="1"/>
          <p:nvPr/>
        </p:nvSpPr>
        <p:spPr>
          <a:xfrm>
            <a:off x="5024513" y="2550797"/>
            <a:ext cx="276944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007789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1722"/>
          </a:p>
        </p:txBody>
      </p:sp>
      <p:sp>
        <p:nvSpPr>
          <p:cNvPr id="273" name="TextBox 273"/>
          <p:cNvSpPr txBox="1"/>
          <p:nvPr/>
        </p:nvSpPr>
        <p:spPr>
          <a:xfrm>
            <a:off x="5767888" y="2550797"/>
            <a:ext cx="276944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007789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1722"/>
          </a:p>
        </p:txBody>
      </p:sp>
      <p:sp>
        <p:nvSpPr>
          <p:cNvPr id="274" name="TextBox 274"/>
          <p:cNvSpPr txBox="1"/>
          <p:nvPr/>
        </p:nvSpPr>
        <p:spPr>
          <a:xfrm>
            <a:off x="6591431" y="2550797"/>
            <a:ext cx="233216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2" b="1">
                <a:solidFill>
                  <a:srgbClr val="007789"/>
                </a:solidFill>
                <a:latin typeface="Noto Sans CJK SC"/>
                <a:ea typeface="Noto Sans CJK SC"/>
                <a:cs typeface="Noto Sans CJK SC"/>
              </a:rPr>
              <a:t>=</a:t>
            </a:r>
            <a:endParaRPr lang="zh-CN" sz="1722"/>
          </a:p>
        </p:txBody>
      </p:sp>
      <p:sp>
        <p:nvSpPr>
          <p:cNvPr id="275" name="TextBox 275"/>
          <p:cNvSpPr txBox="1"/>
          <p:nvPr/>
        </p:nvSpPr>
        <p:spPr>
          <a:xfrm>
            <a:off x="6861087" y="2550797"/>
            <a:ext cx="1858438" cy="2915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79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32项构型要素</a:t>
            </a:r>
            <a:endParaRPr lang="zh-CN" sz="1779"/>
          </a:p>
        </p:txBody>
      </p:sp>
      <p:sp>
        <p:nvSpPr>
          <p:cNvPr id="276" name="TextBox 276"/>
          <p:cNvSpPr txBox="1"/>
          <p:nvPr/>
        </p:nvSpPr>
        <p:spPr>
          <a:xfrm>
            <a:off x="1067133" y="3060956"/>
            <a:ext cx="510159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92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18项</a:t>
            </a:r>
            <a:endParaRPr lang="zh-CN" sz="1492"/>
          </a:p>
        </p:txBody>
      </p:sp>
      <p:sp>
        <p:nvSpPr>
          <p:cNvPr id="277" name="TextBox 277"/>
          <p:cNvSpPr txBox="1"/>
          <p:nvPr/>
        </p:nvSpPr>
        <p:spPr>
          <a:xfrm>
            <a:off x="192574" y="3323324"/>
            <a:ext cx="1749118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6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船型—航线—任务因素</a:t>
            </a:r>
            <a:endParaRPr lang="zh-CN" sz="1263"/>
          </a:p>
        </p:txBody>
      </p:sp>
      <p:sp>
        <p:nvSpPr>
          <p:cNvPr id="278" name="TextBox 278"/>
          <p:cNvSpPr txBox="1"/>
          <p:nvPr/>
        </p:nvSpPr>
        <p:spPr>
          <a:xfrm>
            <a:off x="2619476" y="3053668"/>
            <a:ext cx="663207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5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四层</a:t>
            </a:r>
            <a:endParaRPr lang="zh-CN" sz="1205"/>
          </a:p>
          <a:p>
            <a:pPr algn="ctr"/>
            <a:r>
              <a:rPr lang="zh-CN" sz="1205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32项要素</a:t>
            </a:r>
            <a:endParaRPr lang="zh-CN" sz="1205"/>
          </a:p>
        </p:txBody>
      </p:sp>
      <p:sp>
        <p:nvSpPr>
          <p:cNvPr id="279" name="TextBox 279"/>
          <p:cNvSpPr txBox="1"/>
          <p:nvPr/>
        </p:nvSpPr>
        <p:spPr>
          <a:xfrm>
            <a:off x="4113514" y="2973501"/>
            <a:ext cx="1960470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6129B5"/>
                </a:solidFill>
                <a:latin typeface="Noto Sans CJK SC"/>
                <a:ea typeface="Noto Sans CJK SC"/>
                <a:cs typeface="Noto Sans CJK SC"/>
              </a:rPr>
              <a:t>要素组合 E × C × T + A</a:t>
            </a:r>
            <a:endParaRPr lang="zh-CN" sz="1320"/>
          </a:p>
        </p:txBody>
      </p:sp>
      <p:sp>
        <p:nvSpPr>
          <p:cNvPr id="280" name="TextBox 280"/>
          <p:cNvSpPr txBox="1"/>
          <p:nvPr/>
        </p:nvSpPr>
        <p:spPr>
          <a:xfrm>
            <a:off x="4062498" y="3250444"/>
            <a:ext cx="2026062" cy="160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前三层理论组合：8×6×8＝384种基础组合</a:t>
            </a:r>
            <a:endParaRPr lang="zh-CN" sz="803"/>
          </a:p>
        </p:txBody>
      </p:sp>
      <p:sp>
        <p:nvSpPr>
          <p:cNvPr id="281" name="TextBox 281"/>
          <p:cNvSpPr txBox="1"/>
          <p:nvPr/>
        </p:nvSpPr>
        <p:spPr>
          <a:xfrm>
            <a:off x="4069786" y="3425356"/>
            <a:ext cx="2018774" cy="1311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89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第四层为可多选增强模块，不直接增加主构型类别</a:t>
            </a:r>
            <a:endParaRPr lang="zh-CN" sz="689"/>
          </a:p>
        </p:txBody>
      </p:sp>
      <p:sp>
        <p:nvSpPr>
          <p:cNvPr id="282" name="TextBox 282"/>
          <p:cNvSpPr txBox="1"/>
          <p:nvPr/>
        </p:nvSpPr>
        <p:spPr>
          <a:xfrm>
            <a:off x="6722615" y="3097396"/>
            <a:ext cx="517447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76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物理兼容</a:t>
            </a:r>
            <a:endParaRPr lang="zh-CN" sz="976"/>
          </a:p>
          <a:p>
            <a:pPr algn="ctr"/>
            <a:r>
              <a:rPr lang="zh-CN" sz="976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筛选</a:t>
            </a:r>
            <a:endParaRPr lang="zh-CN" sz="976"/>
          </a:p>
        </p:txBody>
      </p:sp>
      <p:sp>
        <p:nvSpPr>
          <p:cNvPr id="283" name="TextBox 283"/>
          <p:cNvSpPr txBox="1"/>
          <p:nvPr/>
        </p:nvSpPr>
        <p:spPr>
          <a:xfrm>
            <a:off x="7837678" y="3097396"/>
            <a:ext cx="561175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法规与</a:t>
            </a:r>
            <a:endParaRPr lang="zh-CN" sz="1033"/>
          </a:p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安全准入</a:t>
            </a:r>
            <a:endParaRPr lang="zh-CN" sz="1033"/>
          </a:p>
        </p:txBody>
      </p:sp>
      <p:sp>
        <p:nvSpPr>
          <p:cNvPr id="284" name="TextBox 284"/>
          <p:cNvSpPr txBox="1"/>
          <p:nvPr/>
        </p:nvSpPr>
        <p:spPr>
          <a:xfrm>
            <a:off x="8996468" y="3097396"/>
            <a:ext cx="510159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功率路径</a:t>
            </a:r>
            <a:endParaRPr lang="zh-CN" sz="1000"/>
          </a:p>
          <a:p>
            <a:pPr algn="ctr"/>
            <a:r>
              <a:rPr lang="zh-CN" sz="1000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归并</a:t>
            </a:r>
            <a:endParaRPr lang="zh-CN" sz="1000"/>
          </a:p>
        </p:txBody>
      </p:sp>
      <p:sp>
        <p:nvSpPr>
          <p:cNvPr id="285" name="TextBox 285"/>
          <p:cNvSpPr txBox="1"/>
          <p:nvPr/>
        </p:nvSpPr>
        <p:spPr>
          <a:xfrm>
            <a:off x="10082379" y="3097396"/>
            <a:ext cx="546599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任务场景</a:t>
            </a:r>
            <a:endParaRPr lang="zh-CN" sz="1033"/>
          </a:p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聚类</a:t>
            </a:r>
            <a:endParaRPr lang="zh-CN" sz="1033"/>
          </a:p>
        </p:txBody>
      </p:sp>
      <p:sp>
        <p:nvSpPr>
          <p:cNvPr id="286" name="TextBox 286"/>
          <p:cNvSpPr txBox="1"/>
          <p:nvPr/>
        </p:nvSpPr>
        <p:spPr>
          <a:xfrm>
            <a:off x="11437945" y="3024516"/>
            <a:ext cx="553887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90" b="1">
                <a:solidFill>
                  <a:srgbClr val="74400A"/>
                </a:solidFill>
                <a:latin typeface="Noto Sans CJK SC"/>
                <a:ea typeface="Noto Sans CJK SC"/>
                <a:cs typeface="Noto Sans CJK SC"/>
              </a:rPr>
              <a:t>九类</a:t>
            </a:r>
            <a:endParaRPr lang="zh-CN" sz="1090"/>
          </a:p>
          <a:p>
            <a:pPr algn="ctr"/>
            <a:r>
              <a:rPr lang="zh-CN" sz="1090" b="1">
                <a:solidFill>
                  <a:srgbClr val="74400A"/>
                </a:solidFill>
                <a:latin typeface="Noto Sans CJK SC"/>
                <a:ea typeface="Noto Sans CJK SC"/>
                <a:cs typeface="Noto Sans CJK SC"/>
              </a:rPr>
              <a:t>典型构型</a:t>
            </a:r>
            <a:endParaRPr lang="zh-CN" sz="1090"/>
          </a:p>
        </p:txBody>
      </p:sp>
      <p:sp>
        <p:nvSpPr>
          <p:cNvPr id="287" name="TextBox 287"/>
          <p:cNvSpPr txBox="1"/>
          <p:nvPr/>
        </p:nvSpPr>
        <p:spPr>
          <a:xfrm>
            <a:off x="280030" y="3673148"/>
            <a:ext cx="1034895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筛选与归并</a:t>
            </a:r>
            <a:endParaRPr lang="zh-CN" sz="1320"/>
          </a:p>
          <a:p>
            <a:pPr algn="ctr"/>
            <a:r>
              <a:rPr lang="zh-CN"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三项原则</a:t>
            </a:r>
            <a:endParaRPr lang="zh-CN" sz="1320"/>
          </a:p>
        </p:txBody>
      </p:sp>
      <p:sp>
        <p:nvSpPr>
          <p:cNvPr id="288" name="TextBox 288"/>
          <p:cNvSpPr txBox="1"/>
          <p:nvPr/>
        </p:nvSpPr>
        <p:spPr>
          <a:xfrm>
            <a:off x="2626764" y="3746028"/>
            <a:ext cx="255080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lang="zh-CN" sz="1320"/>
          </a:p>
        </p:txBody>
      </p:sp>
      <p:sp>
        <p:nvSpPr>
          <p:cNvPr id="289" name="TextBox 289"/>
          <p:cNvSpPr txBox="1"/>
          <p:nvPr/>
        </p:nvSpPr>
        <p:spPr>
          <a:xfrm>
            <a:off x="2962011" y="3753316"/>
            <a:ext cx="1719966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能源—装置必须匹配</a:t>
            </a:r>
            <a:endParaRPr lang="zh-CN" sz="1033"/>
          </a:p>
        </p:txBody>
      </p:sp>
      <p:sp>
        <p:nvSpPr>
          <p:cNvPr id="290" name="TextBox 290"/>
          <p:cNvSpPr txBox="1"/>
          <p:nvPr/>
        </p:nvSpPr>
        <p:spPr>
          <a:xfrm>
            <a:off x="5250441" y="3746028"/>
            <a:ext cx="255080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lang="zh-CN" sz="1320"/>
          </a:p>
        </p:txBody>
      </p:sp>
      <p:sp>
        <p:nvSpPr>
          <p:cNvPr id="291" name="TextBox 291"/>
          <p:cNvSpPr txBox="1"/>
          <p:nvPr/>
        </p:nvSpPr>
        <p:spPr>
          <a:xfrm>
            <a:off x="5585688" y="3753316"/>
            <a:ext cx="2587237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安全风险不可由经济性补偿</a:t>
            </a:r>
            <a:endParaRPr lang="zh-CN" sz="1033"/>
          </a:p>
        </p:txBody>
      </p:sp>
      <p:sp>
        <p:nvSpPr>
          <p:cNvPr id="292" name="TextBox 292"/>
          <p:cNvSpPr txBox="1"/>
          <p:nvPr/>
        </p:nvSpPr>
        <p:spPr>
          <a:xfrm>
            <a:off x="8734101" y="3746028"/>
            <a:ext cx="255080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lang="zh-CN" sz="1320"/>
          </a:p>
        </p:txBody>
      </p:sp>
      <p:sp>
        <p:nvSpPr>
          <p:cNvPr id="293" name="TextBox 293"/>
          <p:cNvSpPr txBox="1"/>
          <p:nvPr/>
        </p:nvSpPr>
        <p:spPr>
          <a:xfrm>
            <a:off x="9069348" y="3753316"/>
            <a:ext cx="2813165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3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燃料不同但主功率路径相同的方案归为同类</a:t>
            </a:r>
            <a:endParaRPr lang="zh-CN" sz="1033"/>
          </a:p>
        </p:txBody>
      </p:sp>
      <p:sp>
        <p:nvSpPr>
          <p:cNvPr id="294" name="TextBox 294"/>
          <p:cNvSpPr txBox="1"/>
          <p:nvPr/>
        </p:nvSpPr>
        <p:spPr>
          <a:xfrm>
            <a:off x="4579945" y="4139579"/>
            <a:ext cx="3206716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九类船舶动力构型（主拓扑）</a:t>
            </a:r>
            <a:endParaRPr lang="zh-CN" sz="1550"/>
          </a:p>
        </p:txBody>
      </p:sp>
      <p:sp>
        <p:nvSpPr>
          <p:cNvPr id="295" name="TextBox 295"/>
          <p:cNvSpPr txBox="1"/>
          <p:nvPr/>
        </p:nvSpPr>
        <p:spPr>
          <a:xfrm>
            <a:off x="294606" y="4452963"/>
            <a:ext cx="3709588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Ⅰ　单燃料机械直驱</a:t>
            </a:r>
            <a:endParaRPr lang="zh-CN" sz="1033"/>
          </a:p>
        </p:txBody>
      </p:sp>
      <p:sp>
        <p:nvSpPr>
          <p:cNvPr id="296" name="TextBox 296"/>
          <p:cNvSpPr txBox="1"/>
          <p:nvPr/>
        </p:nvSpPr>
        <p:spPr>
          <a:xfrm>
            <a:off x="4281138" y="4452963"/>
            <a:ext cx="360755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Ⅱ　双燃料灵活机械推进</a:t>
            </a:r>
            <a:endParaRPr lang="zh-CN" sz="1033"/>
          </a:p>
        </p:txBody>
      </p:sp>
      <p:sp>
        <p:nvSpPr>
          <p:cNvPr id="297" name="TextBox 297"/>
          <p:cNvSpPr txBox="1"/>
          <p:nvPr/>
        </p:nvSpPr>
        <p:spPr>
          <a:xfrm>
            <a:off x="8172925" y="4452963"/>
            <a:ext cx="3724164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Ⅲ　发动机—轴带电机混合</a:t>
            </a:r>
            <a:endParaRPr lang="zh-CN" sz="1033"/>
          </a:p>
        </p:txBody>
      </p:sp>
      <p:sp>
        <p:nvSpPr>
          <p:cNvPr id="298" name="TextBox 298"/>
          <p:cNvSpPr txBox="1"/>
          <p:nvPr/>
        </p:nvSpPr>
        <p:spPr>
          <a:xfrm>
            <a:off x="294606" y="5159898"/>
            <a:ext cx="3709588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Ⅳ　内燃机—电池并联混合</a:t>
            </a:r>
            <a:endParaRPr lang="zh-CN" sz="1033"/>
          </a:p>
        </p:txBody>
      </p:sp>
      <p:sp>
        <p:nvSpPr>
          <p:cNvPr id="299" name="TextBox 299"/>
          <p:cNvSpPr txBox="1"/>
          <p:nvPr/>
        </p:nvSpPr>
        <p:spPr>
          <a:xfrm>
            <a:off x="4281138" y="5159898"/>
            <a:ext cx="360755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Ⅴ　发动机发电—综合电推</a:t>
            </a:r>
            <a:endParaRPr lang="zh-CN" sz="1033"/>
          </a:p>
        </p:txBody>
      </p:sp>
      <p:sp>
        <p:nvSpPr>
          <p:cNvPr id="300" name="TextBox 300"/>
          <p:cNvSpPr txBox="1"/>
          <p:nvPr/>
        </p:nvSpPr>
        <p:spPr>
          <a:xfrm>
            <a:off x="8172925" y="5159898"/>
            <a:ext cx="3724164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Ⅵ　燃料电池—电池混合</a:t>
            </a:r>
            <a:endParaRPr lang="zh-CN" sz="1033"/>
          </a:p>
        </p:txBody>
      </p:sp>
      <p:sp>
        <p:nvSpPr>
          <p:cNvPr id="301" name="TextBox 301"/>
          <p:cNvSpPr txBox="1"/>
          <p:nvPr/>
        </p:nvSpPr>
        <p:spPr>
          <a:xfrm>
            <a:off x="294606" y="5866833"/>
            <a:ext cx="3709588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Ⅶ　纯电池—岸电</a:t>
            </a:r>
            <a:endParaRPr lang="zh-CN" sz="1033"/>
          </a:p>
        </p:txBody>
      </p:sp>
      <p:sp>
        <p:nvSpPr>
          <p:cNvPr id="302" name="TextBox 302"/>
          <p:cNvSpPr txBox="1"/>
          <p:nvPr/>
        </p:nvSpPr>
        <p:spPr>
          <a:xfrm>
            <a:off x="4281138" y="5866833"/>
            <a:ext cx="360755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Ⅷ　多能源综合电力</a:t>
            </a:r>
            <a:endParaRPr lang="zh-CN" sz="1033"/>
          </a:p>
        </p:txBody>
      </p:sp>
      <p:sp>
        <p:nvSpPr>
          <p:cNvPr id="303" name="TextBox 303"/>
          <p:cNvSpPr txBox="1"/>
          <p:nvPr/>
        </p:nvSpPr>
        <p:spPr>
          <a:xfrm>
            <a:off x="8172925" y="5866833"/>
            <a:ext cx="3724164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3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Ⅸ　核能综合推进</a:t>
            </a:r>
            <a:endParaRPr lang="zh-CN" sz="1033"/>
          </a:p>
        </p:txBody>
      </p:sp>
      <p:sp>
        <p:nvSpPr>
          <p:cNvPr id="304" name="TextBox 304"/>
          <p:cNvSpPr txBox="1"/>
          <p:nvPr/>
        </p:nvSpPr>
        <p:spPr>
          <a:xfrm>
            <a:off x="396638" y="4926682"/>
            <a:ext cx="415416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燃料</a:t>
            </a:r>
            <a:endParaRPr lang="zh-CN" sz="918"/>
          </a:p>
        </p:txBody>
      </p:sp>
      <p:sp>
        <p:nvSpPr>
          <p:cNvPr id="305" name="TextBox 305"/>
          <p:cNvSpPr txBox="1"/>
          <p:nvPr/>
        </p:nvSpPr>
        <p:spPr>
          <a:xfrm>
            <a:off x="1198317" y="4926682"/>
            <a:ext cx="677783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内燃机</a:t>
            </a:r>
            <a:endParaRPr lang="zh-CN" sz="918"/>
          </a:p>
        </p:txBody>
      </p:sp>
      <p:sp>
        <p:nvSpPr>
          <p:cNvPr id="306" name="TextBox 306"/>
          <p:cNvSpPr txBox="1"/>
          <p:nvPr/>
        </p:nvSpPr>
        <p:spPr>
          <a:xfrm>
            <a:off x="2225924" y="4912106"/>
            <a:ext cx="1129639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轴系</a:t>
            </a:r>
            <a:endParaRPr lang="zh-CN" sz="918"/>
          </a:p>
        </p:txBody>
      </p:sp>
      <p:sp>
        <p:nvSpPr>
          <p:cNvPr id="307" name="TextBox 307"/>
          <p:cNvSpPr txBox="1"/>
          <p:nvPr/>
        </p:nvSpPr>
        <p:spPr>
          <a:xfrm>
            <a:off x="3399291" y="4948546"/>
            <a:ext cx="48100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螺旋桨</a:t>
            </a:r>
            <a:endParaRPr lang="zh-CN" sz="918"/>
          </a:p>
        </p:txBody>
      </p:sp>
      <p:sp>
        <p:nvSpPr>
          <p:cNvPr id="308" name="TextBox 308"/>
          <p:cNvSpPr txBox="1"/>
          <p:nvPr/>
        </p:nvSpPr>
        <p:spPr>
          <a:xfrm>
            <a:off x="4339442" y="4926682"/>
            <a:ext cx="415416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20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主/备燃料</a:t>
            </a:r>
            <a:endParaRPr lang="zh-CN" sz="720"/>
          </a:p>
        </p:txBody>
      </p:sp>
      <p:sp>
        <p:nvSpPr>
          <p:cNvPr id="309" name="TextBox 309"/>
          <p:cNvSpPr txBox="1"/>
          <p:nvPr/>
        </p:nvSpPr>
        <p:spPr>
          <a:xfrm>
            <a:off x="4696553" y="4700755"/>
            <a:ext cx="153048" cy="1676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48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1148"/>
          </a:p>
        </p:txBody>
      </p:sp>
      <p:sp>
        <p:nvSpPr>
          <p:cNvPr id="310" name="TextBox 310"/>
          <p:cNvSpPr txBox="1"/>
          <p:nvPr/>
        </p:nvSpPr>
        <p:spPr>
          <a:xfrm>
            <a:off x="5323321" y="4926682"/>
            <a:ext cx="648631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双燃料机</a:t>
            </a:r>
            <a:endParaRPr lang="zh-CN" sz="918"/>
          </a:p>
        </p:txBody>
      </p:sp>
      <p:sp>
        <p:nvSpPr>
          <p:cNvPr id="311" name="TextBox 311"/>
          <p:cNvSpPr txBox="1"/>
          <p:nvPr/>
        </p:nvSpPr>
        <p:spPr>
          <a:xfrm>
            <a:off x="6299911" y="4912106"/>
            <a:ext cx="962015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轴系</a:t>
            </a:r>
            <a:endParaRPr lang="zh-CN" sz="918"/>
          </a:p>
        </p:txBody>
      </p:sp>
      <p:sp>
        <p:nvSpPr>
          <p:cNvPr id="312" name="TextBox 312"/>
          <p:cNvSpPr txBox="1"/>
          <p:nvPr/>
        </p:nvSpPr>
        <p:spPr>
          <a:xfrm>
            <a:off x="7276502" y="4948546"/>
            <a:ext cx="473719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螺旋桨</a:t>
            </a:r>
            <a:endParaRPr lang="zh-CN" sz="918"/>
          </a:p>
        </p:txBody>
      </p:sp>
      <p:sp>
        <p:nvSpPr>
          <p:cNvPr id="313" name="TextBox 313"/>
          <p:cNvSpPr txBox="1"/>
          <p:nvPr/>
        </p:nvSpPr>
        <p:spPr>
          <a:xfrm>
            <a:off x="8274957" y="4926682"/>
            <a:ext cx="393552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燃料</a:t>
            </a:r>
            <a:endParaRPr lang="zh-CN" sz="918"/>
          </a:p>
        </p:txBody>
      </p:sp>
      <p:sp>
        <p:nvSpPr>
          <p:cNvPr id="314" name="TextBox 314"/>
          <p:cNvSpPr txBox="1"/>
          <p:nvPr/>
        </p:nvSpPr>
        <p:spPr>
          <a:xfrm>
            <a:off x="9455612" y="4700755"/>
            <a:ext cx="116608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919"/>
          </a:p>
        </p:txBody>
      </p:sp>
      <p:sp>
        <p:nvSpPr>
          <p:cNvPr id="315" name="TextBox 315"/>
          <p:cNvSpPr txBox="1"/>
          <p:nvPr/>
        </p:nvSpPr>
        <p:spPr>
          <a:xfrm>
            <a:off x="8952740" y="4933970"/>
            <a:ext cx="1085911" cy="1457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主机+轴带电机</a:t>
            </a:r>
            <a:endParaRPr lang="zh-CN" sz="918"/>
          </a:p>
        </p:txBody>
      </p:sp>
      <p:sp>
        <p:nvSpPr>
          <p:cNvPr id="316" name="TextBox 316"/>
          <p:cNvSpPr txBox="1"/>
          <p:nvPr/>
        </p:nvSpPr>
        <p:spPr>
          <a:xfrm>
            <a:off x="10315595" y="4926682"/>
            <a:ext cx="55388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船网/电池</a:t>
            </a:r>
            <a:endParaRPr lang="zh-CN" sz="918"/>
          </a:p>
        </p:txBody>
      </p:sp>
      <p:sp>
        <p:nvSpPr>
          <p:cNvPr id="317" name="TextBox 317"/>
          <p:cNvSpPr txBox="1"/>
          <p:nvPr/>
        </p:nvSpPr>
        <p:spPr>
          <a:xfrm>
            <a:off x="11416081" y="4948546"/>
            <a:ext cx="48100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螺旋桨</a:t>
            </a:r>
            <a:endParaRPr lang="zh-CN" sz="918"/>
          </a:p>
        </p:txBody>
      </p:sp>
      <p:sp>
        <p:nvSpPr>
          <p:cNvPr id="318" name="TextBox 318"/>
          <p:cNvSpPr txBox="1"/>
          <p:nvPr/>
        </p:nvSpPr>
        <p:spPr>
          <a:xfrm>
            <a:off x="403926" y="5640905"/>
            <a:ext cx="408128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40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燃料＋电池</a:t>
            </a:r>
            <a:endParaRPr lang="zh-CN" sz="640"/>
          </a:p>
        </p:txBody>
      </p:sp>
      <p:sp>
        <p:nvSpPr>
          <p:cNvPr id="319" name="TextBox 319"/>
          <p:cNvSpPr txBox="1"/>
          <p:nvPr/>
        </p:nvSpPr>
        <p:spPr>
          <a:xfrm>
            <a:off x="768326" y="5407690"/>
            <a:ext cx="160336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60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1260"/>
          </a:p>
        </p:txBody>
      </p:sp>
      <p:sp>
        <p:nvSpPr>
          <p:cNvPr id="320" name="TextBox 320"/>
          <p:cNvSpPr txBox="1"/>
          <p:nvPr/>
        </p:nvSpPr>
        <p:spPr>
          <a:xfrm>
            <a:off x="1919828" y="5407690"/>
            <a:ext cx="109320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860"/>
          </a:p>
        </p:txBody>
      </p:sp>
      <p:sp>
        <p:nvSpPr>
          <p:cNvPr id="321" name="TextBox 321"/>
          <p:cNvSpPr txBox="1"/>
          <p:nvPr/>
        </p:nvSpPr>
        <p:spPr>
          <a:xfrm>
            <a:off x="1540853" y="5648193"/>
            <a:ext cx="794391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内燃机 ∥ 电机</a:t>
            </a:r>
            <a:endParaRPr lang="zh-CN" sz="918"/>
          </a:p>
        </p:txBody>
      </p:sp>
      <p:sp>
        <p:nvSpPr>
          <p:cNvPr id="322" name="TextBox 322"/>
          <p:cNvSpPr txBox="1"/>
          <p:nvPr/>
        </p:nvSpPr>
        <p:spPr>
          <a:xfrm>
            <a:off x="2612188" y="5611753"/>
            <a:ext cx="823543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共同轴系</a:t>
            </a:r>
            <a:endParaRPr lang="zh-CN" sz="918"/>
          </a:p>
        </p:txBody>
      </p:sp>
      <p:sp>
        <p:nvSpPr>
          <p:cNvPr id="323" name="TextBox 323"/>
          <p:cNvSpPr txBox="1"/>
          <p:nvPr/>
        </p:nvSpPr>
        <p:spPr>
          <a:xfrm>
            <a:off x="3406579" y="5670057"/>
            <a:ext cx="48100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螺旋桨</a:t>
            </a:r>
            <a:endParaRPr lang="zh-CN" sz="918"/>
          </a:p>
        </p:txBody>
      </p:sp>
      <p:sp>
        <p:nvSpPr>
          <p:cNvPr id="324" name="TextBox 324"/>
          <p:cNvSpPr txBox="1"/>
          <p:nvPr/>
        </p:nvSpPr>
        <p:spPr>
          <a:xfrm>
            <a:off x="4361306" y="5640905"/>
            <a:ext cx="393552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燃料</a:t>
            </a:r>
            <a:endParaRPr lang="zh-CN" sz="918"/>
          </a:p>
        </p:txBody>
      </p:sp>
      <p:sp>
        <p:nvSpPr>
          <p:cNvPr id="325" name="TextBox 325"/>
          <p:cNvSpPr txBox="1"/>
          <p:nvPr/>
        </p:nvSpPr>
        <p:spPr>
          <a:xfrm>
            <a:off x="5053665" y="5640905"/>
            <a:ext cx="69964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发电机组</a:t>
            </a:r>
            <a:endParaRPr lang="zh-CN" sz="918"/>
          </a:p>
        </p:txBody>
      </p:sp>
      <p:sp>
        <p:nvSpPr>
          <p:cNvPr id="326" name="TextBox 326"/>
          <p:cNvSpPr txBox="1"/>
          <p:nvPr/>
        </p:nvSpPr>
        <p:spPr>
          <a:xfrm>
            <a:off x="6022968" y="5640905"/>
            <a:ext cx="612191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公共母线</a:t>
            </a:r>
            <a:endParaRPr lang="zh-CN" sz="918"/>
          </a:p>
        </p:txBody>
      </p:sp>
      <p:sp>
        <p:nvSpPr>
          <p:cNvPr id="327" name="TextBox 327"/>
          <p:cNvSpPr txBox="1"/>
          <p:nvPr/>
        </p:nvSpPr>
        <p:spPr>
          <a:xfrm>
            <a:off x="6919391" y="5640905"/>
            <a:ext cx="568463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推进电机</a:t>
            </a:r>
            <a:endParaRPr lang="zh-CN" sz="918"/>
          </a:p>
        </p:txBody>
      </p:sp>
      <p:sp>
        <p:nvSpPr>
          <p:cNvPr id="328" name="TextBox 328"/>
          <p:cNvSpPr txBox="1"/>
          <p:nvPr/>
        </p:nvSpPr>
        <p:spPr>
          <a:xfrm>
            <a:off x="8274957" y="5648193"/>
            <a:ext cx="73608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氢/衍生燃料</a:t>
            </a:r>
            <a:endParaRPr lang="zh-CN" sz="918"/>
          </a:p>
        </p:txBody>
      </p:sp>
      <p:sp>
        <p:nvSpPr>
          <p:cNvPr id="329" name="TextBox 329"/>
          <p:cNvSpPr txBox="1"/>
          <p:nvPr/>
        </p:nvSpPr>
        <p:spPr>
          <a:xfrm>
            <a:off x="9586796" y="5407690"/>
            <a:ext cx="109320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0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860"/>
          </a:p>
        </p:txBody>
      </p:sp>
      <p:sp>
        <p:nvSpPr>
          <p:cNvPr id="330" name="TextBox 330"/>
          <p:cNvSpPr txBox="1"/>
          <p:nvPr/>
        </p:nvSpPr>
        <p:spPr>
          <a:xfrm>
            <a:off x="9200532" y="5648193"/>
            <a:ext cx="823543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燃料电池＋电池</a:t>
            </a:r>
            <a:endParaRPr lang="zh-CN" sz="918"/>
          </a:p>
        </p:txBody>
      </p:sp>
      <p:sp>
        <p:nvSpPr>
          <p:cNvPr id="331" name="TextBox 331"/>
          <p:cNvSpPr txBox="1"/>
          <p:nvPr/>
        </p:nvSpPr>
        <p:spPr>
          <a:xfrm>
            <a:off x="10286443" y="5626329"/>
            <a:ext cx="612191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直流母线</a:t>
            </a:r>
            <a:endParaRPr lang="zh-CN" sz="918"/>
          </a:p>
        </p:txBody>
      </p:sp>
      <p:sp>
        <p:nvSpPr>
          <p:cNvPr id="332" name="TextBox 332"/>
          <p:cNvSpPr txBox="1"/>
          <p:nvPr/>
        </p:nvSpPr>
        <p:spPr>
          <a:xfrm>
            <a:off x="11182866" y="5640905"/>
            <a:ext cx="575751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推进电机</a:t>
            </a:r>
            <a:endParaRPr lang="zh-CN" sz="918"/>
          </a:p>
        </p:txBody>
      </p:sp>
      <p:sp>
        <p:nvSpPr>
          <p:cNvPr id="333" name="TextBox 333"/>
          <p:cNvSpPr txBox="1"/>
          <p:nvPr/>
        </p:nvSpPr>
        <p:spPr>
          <a:xfrm>
            <a:off x="360198" y="6355129"/>
            <a:ext cx="48100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岸电</a:t>
            </a:r>
            <a:endParaRPr lang="zh-CN" sz="918"/>
          </a:p>
        </p:txBody>
      </p:sp>
      <p:sp>
        <p:nvSpPr>
          <p:cNvPr id="334" name="TextBox 334"/>
          <p:cNvSpPr txBox="1"/>
          <p:nvPr/>
        </p:nvSpPr>
        <p:spPr>
          <a:xfrm>
            <a:off x="1227469" y="6347841"/>
            <a:ext cx="451855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充/换电</a:t>
            </a:r>
            <a:endParaRPr lang="zh-CN" sz="918"/>
          </a:p>
        </p:txBody>
      </p:sp>
      <p:sp>
        <p:nvSpPr>
          <p:cNvPr id="335" name="TextBox 335"/>
          <p:cNvSpPr txBox="1"/>
          <p:nvPr/>
        </p:nvSpPr>
        <p:spPr>
          <a:xfrm>
            <a:off x="2123892" y="6355129"/>
            <a:ext cx="48100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电池</a:t>
            </a:r>
            <a:endParaRPr lang="zh-CN" sz="918"/>
          </a:p>
        </p:txBody>
      </p:sp>
      <p:sp>
        <p:nvSpPr>
          <p:cNvPr id="336" name="TextBox 336"/>
          <p:cNvSpPr txBox="1"/>
          <p:nvPr/>
        </p:nvSpPr>
        <p:spPr>
          <a:xfrm>
            <a:off x="3064043" y="6355129"/>
            <a:ext cx="575751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推进电机</a:t>
            </a:r>
            <a:endParaRPr lang="zh-CN" sz="918"/>
          </a:p>
        </p:txBody>
      </p:sp>
      <p:sp>
        <p:nvSpPr>
          <p:cNvPr id="337" name="TextBox 337"/>
          <p:cNvSpPr txBox="1"/>
          <p:nvPr/>
        </p:nvSpPr>
        <p:spPr>
          <a:xfrm>
            <a:off x="4448762" y="6362417"/>
            <a:ext cx="721511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多能源</a:t>
            </a:r>
            <a:endParaRPr lang="zh-CN" sz="918"/>
          </a:p>
        </p:txBody>
      </p:sp>
      <p:sp>
        <p:nvSpPr>
          <p:cNvPr id="338" name="TextBox 338"/>
          <p:cNvSpPr txBox="1"/>
          <p:nvPr/>
        </p:nvSpPr>
        <p:spPr>
          <a:xfrm>
            <a:off x="5840768" y="6143777"/>
            <a:ext cx="102032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800"/>
          </a:p>
        </p:txBody>
      </p:sp>
      <p:sp>
        <p:nvSpPr>
          <p:cNvPr id="339" name="TextBox 339"/>
          <p:cNvSpPr txBox="1"/>
          <p:nvPr/>
        </p:nvSpPr>
        <p:spPr>
          <a:xfrm>
            <a:off x="6263471" y="6143777"/>
            <a:ext cx="102032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+</a:t>
            </a:r>
            <a:endParaRPr lang="zh-CN" sz="800"/>
          </a:p>
        </p:txBody>
      </p:sp>
      <p:sp>
        <p:nvSpPr>
          <p:cNvPr id="340" name="TextBox 340"/>
          <p:cNvSpPr txBox="1"/>
          <p:nvPr/>
        </p:nvSpPr>
        <p:spPr>
          <a:xfrm>
            <a:off x="4980785" y="6362417"/>
            <a:ext cx="1785558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1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发动机＋燃料电池＋电池</a:t>
            </a:r>
            <a:endParaRPr lang="zh-CN" sz="861"/>
          </a:p>
        </p:txBody>
      </p:sp>
      <p:sp>
        <p:nvSpPr>
          <p:cNvPr id="341" name="TextBox 341"/>
          <p:cNvSpPr txBox="1"/>
          <p:nvPr/>
        </p:nvSpPr>
        <p:spPr>
          <a:xfrm>
            <a:off x="6802783" y="6355129"/>
            <a:ext cx="62676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多母线/分区</a:t>
            </a:r>
            <a:endParaRPr lang="zh-CN" sz="890"/>
          </a:p>
        </p:txBody>
      </p:sp>
      <p:sp>
        <p:nvSpPr>
          <p:cNvPr id="342" name="TextBox 342"/>
          <p:cNvSpPr txBox="1"/>
          <p:nvPr/>
        </p:nvSpPr>
        <p:spPr>
          <a:xfrm>
            <a:off x="7502430" y="6362417"/>
            <a:ext cx="473719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1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多推进器</a:t>
            </a:r>
            <a:endParaRPr lang="zh-CN" sz="861"/>
          </a:p>
        </p:txBody>
      </p:sp>
      <p:sp>
        <p:nvSpPr>
          <p:cNvPr id="343" name="TextBox 343"/>
          <p:cNvSpPr txBox="1"/>
          <p:nvPr/>
        </p:nvSpPr>
        <p:spPr>
          <a:xfrm>
            <a:off x="8296821" y="6355129"/>
            <a:ext cx="422704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核燃料</a:t>
            </a:r>
            <a:endParaRPr lang="zh-CN" sz="918"/>
          </a:p>
        </p:txBody>
      </p:sp>
      <p:sp>
        <p:nvSpPr>
          <p:cNvPr id="344" name="TextBox 344"/>
          <p:cNvSpPr txBox="1"/>
          <p:nvPr/>
        </p:nvSpPr>
        <p:spPr>
          <a:xfrm>
            <a:off x="9411884" y="6136489"/>
            <a:ext cx="116608" cy="182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 b="1">
                <a:solidFill>
                  <a:srgbClr val="002553"/>
                </a:solidFill>
                <a:latin typeface="Noto Sans CJK SC"/>
                <a:ea typeface="Noto Sans CJK SC"/>
                <a:cs typeface="Noto Sans CJK SC"/>
              </a:rPr>
              <a:t>−</a:t>
            </a:r>
            <a:endParaRPr lang="zh-CN" sz="919"/>
          </a:p>
        </p:txBody>
      </p:sp>
      <p:sp>
        <p:nvSpPr>
          <p:cNvPr id="345" name="TextBox 345"/>
          <p:cNvSpPr txBox="1"/>
          <p:nvPr/>
        </p:nvSpPr>
        <p:spPr>
          <a:xfrm>
            <a:off x="8996468" y="6362417"/>
            <a:ext cx="1209807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1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反应堆＋热/电转换</a:t>
            </a:r>
            <a:endParaRPr lang="zh-CN" sz="861"/>
          </a:p>
        </p:txBody>
      </p:sp>
      <p:sp>
        <p:nvSpPr>
          <p:cNvPr id="346" name="TextBox 346"/>
          <p:cNvSpPr txBox="1"/>
          <p:nvPr/>
        </p:nvSpPr>
        <p:spPr>
          <a:xfrm>
            <a:off x="10344747" y="6347841"/>
            <a:ext cx="619479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40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蒸汽/电力母线</a:t>
            </a:r>
            <a:endParaRPr lang="zh-CN" sz="740"/>
          </a:p>
        </p:txBody>
      </p:sp>
      <p:sp>
        <p:nvSpPr>
          <p:cNvPr id="347" name="TextBox 347"/>
          <p:cNvSpPr txBox="1"/>
          <p:nvPr/>
        </p:nvSpPr>
        <p:spPr>
          <a:xfrm>
            <a:off x="11248458" y="6355129"/>
            <a:ext cx="597615" cy="1384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8" b="1">
                <a:solidFill>
                  <a:srgbClr val="111B28"/>
                </a:solidFill>
                <a:latin typeface="Noto Sans CJK SC"/>
                <a:ea typeface="Noto Sans CJK SC"/>
                <a:cs typeface="Noto Sans CJK SC"/>
              </a:rPr>
              <a:t>推进器</a:t>
            </a:r>
            <a:endParaRPr lang="zh-CN" sz="918"/>
          </a:p>
        </p:txBody>
      </p:sp>
      <p:sp>
        <p:nvSpPr>
          <p:cNvPr id="348" name="TextBox 348"/>
          <p:cNvSpPr txBox="1"/>
          <p:nvPr/>
        </p:nvSpPr>
        <p:spPr>
          <a:xfrm>
            <a:off x="2765235" y="6551904"/>
            <a:ext cx="5218202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九类主构型 ＋ 燃料子路线 ＋ 辅助功能标签 ＋ 容量参数 ＝</a:t>
            </a:r>
            <a:endParaRPr lang="zh-CN" sz="1378"/>
          </a:p>
        </p:txBody>
      </p:sp>
      <p:sp>
        <p:nvSpPr>
          <p:cNvPr id="349" name="TextBox 349"/>
          <p:cNvSpPr txBox="1"/>
          <p:nvPr/>
        </p:nvSpPr>
        <p:spPr>
          <a:xfrm>
            <a:off x="7961573" y="6551904"/>
            <a:ext cx="1683526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78" b="1">
                <a:solidFill>
                  <a:srgbClr val="FFE357"/>
                </a:solidFill>
                <a:latin typeface="Noto Sans CJK SC"/>
                <a:ea typeface="Noto Sans CJK SC"/>
                <a:cs typeface="Noto Sans CJK SC"/>
              </a:rPr>
              <a:t>具体动力系统方案</a:t>
            </a:r>
            <a:endParaRPr lang="zh-CN" sz="137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